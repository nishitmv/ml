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 id="256" r:id="rId3"/>
    <p:sldId id="257" r:id="rId4"/>
    <p:sldId id="258" r:id="rId5"/>
    <p:sldId id="273" r:id="rId6"/>
    <p:sldId id="259" r:id="rId7"/>
    <p:sldId id="260" r:id="rId8"/>
    <p:sldId id="262" r:id="rId9"/>
    <p:sldId id="271" r:id="rId10"/>
    <p:sldId id="272" r:id="rId11"/>
    <p:sldId id="261" r:id="rId12"/>
    <p:sldId id="264" r:id="rId13"/>
    <p:sldId id="265" r:id="rId14"/>
    <p:sldId id="266" r:id="rId15"/>
    <p:sldId id="270" r:id="rId16"/>
    <p:sldId id="26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2BD4D9-EA8B-4608-A82B-F06470FB6D0A}" v="47" dt="2025-12-13T16:30:33.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7" d="100"/>
          <a:sy n="97" d="100"/>
        </p:scale>
        <p:origin x="200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t M.V" userId="08cbca556c6700c9" providerId="LiveId" clId="{11D13D3E-C88F-41F9-9524-E8908C59F562}"/>
    <pc:docChg chg="undo custSel addSld modSld sldOrd">
      <pc:chgData name="Nishit M.V" userId="08cbca556c6700c9" providerId="LiveId" clId="{11D13D3E-C88F-41F9-9524-E8908C59F562}" dt="2025-12-13T17:11:00.900" v="1804" actId="20577"/>
      <pc:docMkLst>
        <pc:docMk/>
      </pc:docMkLst>
      <pc:sldChg chg="modSp mod">
        <pc:chgData name="Nishit M.V" userId="08cbca556c6700c9" providerId="LiveId" clId="{11D13D3E-C88F-41F9-9524-E8908C59F562}" dt="2025-12-05T04:13:33.655" v="138" actId="20577"/>
        <pc:sldMkLst>
          <pc:docMk/>
          <pc:sldMk cId="2657333197" sldId="260"/>
        </pc:sldMkLst>
        <pc:spChg chg="mod">
          <ac:chgData name="Nishit M.V" userId="08cbca556c6700c9" providerId="LiveId" clId="{11D13D3E-C88F-41F9-9524-E8908C59F562}" dt="2025-12-05T04:13:33.655" v="138" actId="20577"/>
          <ac:spMkLst>
            <pc:docMk/>
            <pc:sldMk cId="2657333197" sldId="260"/>
            <ac:spMk id="4" creationId="{3CC5B79E-5C1D-ECDD-4CE8-7A579264BC37}"/>
          </ac:spMkLst>
        </pc:spChg>
      </pc:sldChg>
      <pc:sldChg chg="modSp mod">
        <pc:chgData name="Nishit M.V" userId="08cbca556c6700c9" providerId="LiveId" clId="{11D13D3E-C88F-41F9-9524-E8908C59F562}" dt="2025-12-12T13:06:14.754" v="1039" actId="1076"/>
        <pc:sldMkLst>
          <pc:docMk/>
          <pc:sldMk cId="482930103" sldId="261"/>
        </pc:sldMkLst>
        <pc:spChg chg="mod">
          <ac:chgData name="Nishit M.V" userId="08cbca556c6700c9" providerId="LiveId" clId="{11D13D3E-C88F-41F9-9524-E8908C59F562}" dt="2025-12-12T13:04:33.599" v="999" actId="1076"/>
          <ac:spMkLst>
            <pc:docMk/>
            <pc:sldMk cId="482930103" sldId="261"/>
            <ac:spMk id="2" creationId="{A89A436F-38A0-5588-60B8-0DD3E3CB7010}"/>
          </ac:spMkLst>
        </pc:spChg>
        <pc:spChg chg="mod">
          <ac:chgData name="Nishit M.V" userId="08cbca556c6700c9" providerId="LiveId" clId="{11D13D3E-C88F-41F9-9524-E8908C59F562}" dt="2025-12-12T13:04:41.270" v="1001" actId="1076"/>
          <ac:spMkLst>
            <pc:docMk/>
            <pc:sldMk cId="482930103" sldId="261"/>
            <ac:spMk id="6" creationId="{89473C8B-00D8-002F-C54F-12D14A2A7F98}"/>
          </ac:spMkLst>
        </pc:spChg>
        <pc:spChg chg="mod">
          <ac:chgData name="Nishit M.V" userId="08cbca556c6700c9" providerId="LiveId" clId="{11D13D3E-C88F-41F9-9524-E8908C59F562}" dt="2025-12-12T13:05:08.415" v="1008" actId="1076"/>
          <ac:spMkLst>
            <pc:docMk/>
            <pc:sldMk cId="482930103" sldId="261"/>
            <ac:spMk id="7" creationId="{458C486A-7254-EEA8-B2B7-D524D2AB2F38}"/>
          </ac:spMkLst>
        </pc:spChg>
        <pc:spChg chg="mod">
          <ac:chgData name="Nishit M.V" userId="08cbca556c6700c9" providerId="LiveId" clId="{11D13D3E-C88F-41F9-9524-E8908C59F562}" dt="2025-12-12T13:06:14.754" v="1039" actId="1076"/>
          <ac:spMkLst>
            <pc:docMk/>
            <pc:sldMk cId="482930103" sldId="261"/>
            <ac:spMk id="8" creationId="{B4B03DB0-29FD-66BF-8114-B7050B056213}"/>
          </ac:spMkLst>
        </pc:spChg>
        <pc:picChg chg="mod">
          <ac:chgData name="Nishit M.V" userId="08cbca556c6700c9" providerId="LiveId" clId="{11D13D3E-C88F-41F9-9524-E8908C59F562}" dt="2025-12-12T13:04:36.903" v="1000" actId="1076"/>
          <ac:picMkLst>
            <pc:docMk/>
            <pc:sldMk cId="482930103" sldId="261"/>
            <ac:picMk id="3074" creationId="{866FA7FB-33D9-E351-9633-77CEB3182928}"/>
          </ac:picMkLst>
        </pc:picChg>
        <pc:picChg chg="mod">
          <ac:chgData name="Nishit M.V" userId="08cbca556c6700c9" providerId="LiveId" clId="{11D13D3E-C88F-41F9-9524-E8908C59F562}" dt="2025-12-12T13:05:03.511" v="1006" actId="1076"/>
          <ac:picMkLst>
            <pc:docMk/>
            <pc:sldMk cId="482930103" sldId="261"/>
            <ac:picMk id="3076" creationId="{579BCEEE-BC96-B7C2-145D-405D04DFB302}"/>
          </ac:picMkLst>
        </pc:picChg>
        <pc:picChg chg="mod">
          <ac:chgData name="Nishit M.V" userId="08cbca556c6700c9" providerId="LiveId" clId="{11D13D3E-C88F-41F9-9524-E8908C59F562}" dt="2025-12-12T13:06:11.969" v="1038" actId="1076"/>
          <ac:picMkLst>
            <pc:docMk/>
            <pc:sldMk cId="482930103" sldId="261"/>
            <ac:picMk id="3078" creationId="{CE59ED31-DD74-53E0-A341-22D2EAA6773B}"/>
          </ac:picMkLst>
        </pc:picChg>
      </pc:sldChg>
      <pc:sldChg chg="modSp mod">
        <pc:chgData name="Nishit M.V" userId="08cbca556c6700c9" providerId="LiveId" clId="{11D13D3E-C88F-41F9-9524-E8908C59F562}" dt="2025-12-12T13:06:02.466" v="1037" actId="1076"/>
        <pc:sldMkLst>
          <pc:docMk/>
          <pc:sldMk cId="192986058" sldId="264"/>
        </pc:sldMkLst>
        <pc:spChg chg="mod">
          <ac:chgData name="Nishit M.V" userId="08cbca556c6700c9" providerId="LiveId" clId="{11D13D3E-C88F-41F9-9524-E8908C59F562}" dt="2025-12-12T13:05:51.104" v="1025" actId="1076"/>
          <ac:spMkLst>
            <pc:docMk/>
            <pc:sldMk cId="192986058" sldId="264"/>
            <ac:spMk id="2" creationId="{41363EBC-C22B-4D18-79DD-338A60489F15}"/>
          </ac:spMkLst>
        </pc:spChg>
        <pc:spChg chg="mod">
          <ac:chgData name="Nishit M.V" userId="08cbca556c6700c9" providerId="LiveId" clId="{11D13D3E-C88F-41F9-9524-E8908C59F562}" dt="2025-12-12T13:06:02.466" v="1037" actId="1076"/>
          <ac:spMkLst>
            <pc:docMk/>
            <pc:sldMk cId="192986058" sldId="264"/>
            <ac:spMk id="10" creationId="{964BCDC5-1117-ADE2-57B2-59C1C9355F50}"/>
          </ac:spMkLst>
        </pc:spChg>
      </pc:sldChg>
      <pc:sldChg chg="addSp modSp mod setBg addAnim">
        <pc:chgData name="Nishit M.V" userId="08cbca556c6700c9" providerId="LiveId" clId="{11D13D3E-C88F-41F9-9524-E8908C59F562}" dt="2025-12-05T07:48:53.948" v="995" actId="14100"/>
        <pc:sldMkLst>
          <pc:docMk/>
          <pc:sldMk cId="4188560247" sldId="269"/>
        </pc:sldMkLst>
        <pc:spChg chg="mod">
          <ac:chgData name="Nishit M.V" userId="08cbca556c6700c9" providerId="LiveId" clId="{11D13D3E-C88F-41F9-9524-E8908C59F562}" dt="2025-12-05T07:48:53.948" v="995" actId="14100"/>
          <ac:spMkLst>
            <pc:docMk/>
            <pc:sldMk cId="4188560247" sldId="269"/>
            <ac:spMk id="2" creationId="{9CC26FC7-612E-BB8D-5D24-D1E2DD9DAD5D}"/>
          </ac:spMkLst>
        </pc:spChg>
        <pc:spChg chg="add mod">
          <ac:chgData name="Nishit M.V" userId="08cbca556c6700c9" providerId="LiveId" clId="{11D13D3E-C88F-41F9-9524-E8908C59F562}" dt="2025-12-05T07:48:16.077" v="960" actId="20577"/>
          <ac:spMkLst>
            <pc:docMk/>
            <pc:sldMk cId="4188560247" sldId="269"/>
            <ac:spMk id="3" creationId="{E7A7A261-4F7D-0E47-6E81-A49F87E758E0}"/>
          </ac:spMkLst>
        </pc:spChg>
        <pc:spChg chg="add">
          <ac:chgData name="Nishit M.V" userId="08cbca556c6700c9" providerId="LiveId" clId="{11D13D3E-C88F-41F9-9524-E8908C59F562}" dt="2025-12-05T07:46:44.848" v="883" actId="26606"/>
          <ac:spMkLst>
            <pc:docMk/>
            <pc:sldMk cId="4188560247" sldId="269"/>
            <ac:spMk id="7" creationId="{6F5A5072-7B47-4D32-B52A-4EBBF590B8A5}"/>
          </ac:spMkLst>
        </pc:spChg>
        <pc:spChg chg="add">
          <ac:chgData name="Nishit M.V" userId="08cbca556c6700c9" providerId="LiveId" clId="{11D13D3E-C88F-41F9-9524-E8908C59F562}" dt="2025-12-05T07:46:44.848" v="883" actId="26606"/>
          <ac:spMkLst>
            <pc:docMk/>
            <pc:sldMk cId="4188560247" sldId="269"/>
            <ac:spMk id="9" creationId="{9715DAF0-AE1B-46C9-8A6B-DB2AA05AB91D}"/>
          </ac:spMkLst>
        </pc:spChg>
        <pc:spChg chg="add">
          <ac:chgData name="Nishit M.V" userId="08cbca556c6700c9" providerId="LiveId" clId="{11D13D3E-C88F-41F9-9524-E8908C59F562}" dt="2025-12-05T07:46:44.848" v="883" actId="26606"/>
          <ac:spMkLst>
            <pc:docMk/>
            <pc:sldMk cId="4188560247" sldId="269"/>
            <ac:spMk id="11" creationId="{6016219D-510E-4184-9090-6D5578A87BD1}"/>
          </ac:spMkLst>
        </pc:spChg>
        <pc:spChg chg="add">
          <ac:chgData name="Nishit M.V" userId="08cbca556c6700c9" providerId="LiveId" clId="{11D13D3E-C88F-41F9-9524-E8908C59F562}" dt="2025-12-05T07:46:44.848" v="883" actId="26606"/>
          <ac:spMkLst>
            <pc:docMk/>
            <pc:sldMk cId="4188560247" sldId="269"/>
            <ac:spMk id="13" creationId="{AFF4A713-7B75-4B21-90D7-5AB19547C728}"/>
          </ac:spMkLst>
        </pc:spChg>
        <pc:spChg chg="add">
          <ac:chgData name="Nishit M.V" userId="08cbca556c6700c9" providerId="LiveId" clId="{11D13D3E-C88F-41F9-9524-E8908C59F562}" dt="2025-12-05T07:46:44.848" v="883" actId="26606"/>
          <ac:spMkLst>
            <pc:docMk/>
            <pc:sldMk cId="4188560247" sldId="269"/>
            <ac:spMk id="15" creationId="{DC631C0B-6DA6-4E57-8231-CE32B3434A7E}"/>
          </ac:spMkLst>
        </pc:spChg>
        <pc:spChg chg="add">
          <ac:chgData name="Nishit M.V" userId="08cbca556c6700c9" providerId="LiveId" clId="{11D13D3E-C88F-41F9-9524-E8908C59F562}" dt="2025-12-05T07:46:44.848" v="883" actId="26606"/>
          <ac:spMkLst>
            <pc:docMk/>
            <pc:sldMk cId="4188560247" sldId="269"/>
            <ac:spMk id="17" creationId="{C29501E6-A978-4A61-9689-9085AF97A53A}"/>
          </ac:spMkLst>
        </pc:spChg>
      </pc:sldChg>
      <pc:sldChg chg="modSp new mod">
        <pc:chgData name="Nishit M.V" userId="08cbca556c6700c9" providerId="LiveId" clId="{11D13D3E-C88F-41F9-9524-E8908C59F562}" dt="2025-12-13T16:32:29.417" v="1367" actId="20577"/>
        <pc:sldMkLst>
          <pc:docMk/>
          <pc:sldMk cId="1698819724" sldId="270"/>
        </pc:sldMkLst>
        <pc:spChg chg="mod">
          <ac:chgData name="Nishit M.V" userId="08cbca556c6700c9" providerId="LiveId" clId="{11D13D3E-C88F-41F9-9524-E8908C59F562}" dt="2025-12-05T07:38:50.128" v="163" actId="20577"/>
          <ac:spMkLst>
            <pc:docMk/>
            <pc:sldMk cId="1698819724" sldId="270"/>
            <ac:spMk id="2" creationId="{6B79CCF2-9ADF-1EE6-262C-426EF4DC75F2}"/>
          </ac:spMkLst>
        </pc:spChg>
        <pc:spChg chg="mod">
          <ac:chgData name="Nishit M.V" userId="08cbca556c6700c9" providerId="LiveId" clId="{11D13D3E-C88F-41F9-9524-E8908C59F562}" dt="2025-12-13T16:32:29.417" v="1367" actId="20577"/>
          <ac:spMkLst>
            <pc:docMk/>
            <pc:sldMk cId="1698819724" sldId="270"/>
            <ac:spMk id="3" creationId="{563CAB39-1286-6175-0A2A-D09EE664B99B}"/>
          </ac:spMkLst>
        </pc:spChg>
      </pc:sldChg>
      <pc:sldChg chg="addSp delSp modSp new mod">
        <pc:chgData name="Nishit M.V" userId="08cbca556c6700c9" providerId="LiveId" clId="{11D13D3E-C88F-41F9-9524-E8908C59F562}" dt="2025-12-13T16:28:39.287" v="1305" actId="1076"/>
        <pc:sldMkLst>
          <pc:docMk/>
          <pc:sldMk cId="2785847948" sldId="271"/>
        </pc:sldMkLst>
        <pc:spChg chg="mod">
          <ac:chgData name="Nishit M.V" userId="08cbca556c6700c9" providerId="LiveId" clId="{11D13D3E-C88F-41F9-9524-E8908C59F562}" dt="2025-12-13T16:28:39.287" v="1305" actId="1076"/>
          <ac:spMkLst>
            <pc:docMk/>
            <pc:sldMk cId="2785847948" sldId="271"/>
            <ac:spMk id="2" creationId="{66A0496E-7017-12B0-D979-DD0AA512D352}"/>
          </ac:spMkLst>
        </pc:spChg>
        <pc:spChg chg="del mod">
          <ac:chgData name="Nishit M.V" userId="08cbca556c6700c9" providerId="LiveId" clId="{11D13D3E-C88F-41F9-9524-E8908C59F562}" dt="2025-12-12T13:29:19.544" v="1116"/>
          <ac:spMkLst>
            <pc:docMk/>
            <pc:sldMk cId="2785847948" sldId="271"/>
            <ac:spMk id="3" creationId="{7DFB01B7-FF4A-78D4-9A0A-E3674881D1BD}"/>
          </ac:spMkLst>
        </pc:spChg>
        <pc:picChg chg="add mod">
          <ac:chgData name="Nishit M.V" userId="08cbca556c6700c9" providerId="LiveId" clId="{11D13D3E-C88F-41F9-9524-E8908C59F562}" dt="2025-12-13T16:28:10.566" v="1298" actId="1076"/>
          <ac:picMkLst>
            <pc:docMk/>
            <pc:sldMk cId="2785847948" sldId="271"/>
            <ac:picMk id="5" creationId="{20F72A64-7CCB-0D31-8B5B-F4B238874C78}"/>
          </ac:picMkLst>
        </pc:picChg>
        <pc:picChg chg="add mod">
          <ac:chgData name="Nishit M.V" userId="08cbca556c6700c9" providerId="LiveId" clId="{11D13D3E-C88F-41F9-9524-E8908C59F562}" dt="2025-12-13T16:28:12.734" v="1299" actId="1076"/>
          <ac:picMkLst>
            <pc:docMk/>
            <pc:sldMk cId="2785847948" sldId="271"/>
            <ac:picMk id="7" creationId="{1672204B-B6A5-85FE-A13C-538C33AAFFA7}"/>
          </ac:picMkLst>
        </pc:picChg>
      </pc:sldChg>
      <pc:sldChg chg="addSp delSp modSp new mod">
        <pc:chgData name="Nishit M.V" userId="08cbca556c6700c9" providerId="LiveId" clId="{11D13D3E-C88F-41F9-9524-E8908C59F562}" dt="2025-12-12T13:28:54.750" v="1102" actId="1076"/>
        <pc:sldMkLst>
          <pc:docMk/>
          <pc:sldMk cId="2828087024" sldId="272"/>
        </pc:sldMkLst>
        <pc:spChg chg="del">
          <ac:chgData name="Nishit M.V" userId="08cbca556c6700c9" providerId="LiveId" clId="{11D13D3E-C88F-41F9-9524-E8908C59F562}" dt="2025-12-12T13:28:49.182" v="1100" actId="478"/>
          <ac:spMkLst>
            <pc:docMk/>
            <pc:sldMk cId="2828087024" sldId="272"/>
            <ac:spMk id="2" creationId="{472F3CE3-4BDC-A933-0416-642F3DFF1A36}"/>
          </ac:spMkLst>
        </pc:spChg>
        <pc:spChg chg="del">
          <ac:chgData name="Nishit M.V" userId="08cbca556c6700c9" providerId="LiveId" clId="{11D13D3E-C88F-41F9-9524-E8908C59F562}" dt="2025-12-12T13:28:43.400" v="1097"/>
          <ac:spMkLst>
            <pc:docMk/>
            <pc:sldMk cId="2828087024" sldId="272"/>
            <ac:spMk id="3" creationId="{4B583849-CE7B-9F91-8189-B31BBF951A0F}"/>
          </ac:spMkLst>
        </pc:spChg>
        <pc:picChg chg="add mod">
          <ac:chgData name="Nishit M.V" userId="08cbca556c6700c9" providerId="LiveId" clId="{11D13D3E-C88F-41F9-9524-E8908C59F562}" dt="2025-12-12T13:28:54.750" v="1102" actId="1076"/>
          <ac:picMkLst>
            <pc:docMk/>
            <pc:sldMk cId="2828087024" sldId="272"/>
            <ac:picMk id="5" creationId="{250B1070-9BFD-4B2F-2EF2-3560F8B7E571}"/>
          </ac:picMkLst>
        </pc:picChg>
      </pc:sldChg>
      <pc:sldChg chg="modSp new mod ord">
        <pc:chgData name="Nishit M.V" userId="08cbca556c6700c9" providerId="LiveId" clId="{11D13D3E-C88F-41F9-9524-E8908C59F562}" dt="2025-12-13T17:11:00.900" v="1804" actId="20577"/>
        <pc:sldMkLst>
          <pc:docMk/>
          <pc:sldMk cId="595186247" sldId="273"/>
        </pc:sldMkLst>
        <pc:spChg chg="mod">
          <ac:chgData name="Nishit M.V" userId="08cbca556c6700c9" providerId="LiveId" clId="{11D13D3E-C88F-41F9-9524-E8908C59F562}" dt="2025-12-13T17:11:00.900" v="1804" actId="20577"/>
          <ac:spMkLst>
            <pc:docMk/>
            <pc:sldMk cId="595186247" sldId="273"/>
            <ac:spMk id="2" creationId="{E647EB82-DD37-C584-E0A9-956779FB154D}"/>
          </ac:spMkLst>
        </pc:spChg>
        <pc:spChg chg="mod">
          <ac:chgData name="Nishit M.V" userId="08cbca556c6700c9" providerId="LiveId" clId="{11D13D3E-C88F-41F9-9524-E8908C59F562}" dt="2025-12-13T17:10:56.946" v="1795" actId="12"/>
          <ac:spMkLst>
            <pc:docMk/>
            <pc:sldMk cId="595186247" sldId="273"/>
            <ac:spMk id="3" creationId="{FE643609-E672-A76A-6C3A-73287A576FC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CC26FC7-612E-BB8D-5D24-D1E2DD9DAD5D}"/>
              </a:ext>
            </a:extLst>
          </p:cNvPr>
          <p:cNvSpPr>
            <a:spLocks noGrp="1"/>
          </p:cNvSpPr>
          <p:nvPr>
            <p:ph type="ctrTitle"/>
          </p:nvPr>
        </p:nvSpPr>
        <p:spPr>
          <a:xfrm>
            <a:off x="530942" y="735106"/>
            <a:ext cx="7995498" cy="2928470"/>
          </a:xfrm>
        </p:spPr>
        <p:txBody>
          <a:bodyPr anchor="b">
            <a:normAutofit/>
          </a:bodyPr>
          <a:lstStyle/>
          <a:p>
            <a:pPr algn="l"/>
            <a:r>
              <a:rPr lang="en-US" sz="4200" dirty="0">
                <a:solidFill>
                  <a:srgbClr val="FFFFFF"/>
                </a:solidFill>
              </a:rPr>
              <a:t>Convolutional Vision Transformer (Hybrid CNN Transformer Network)</a:t>
            </a:r>
            <a:endParaRPr lang="en-IN" sz="4200" dirty="0">
              <a:solidFill>
                <a:srgbClr val="FFFFFF"/>
              </a:solidFill>
            </a:endParaRPr>
          </a:p>
        </p:txBody>
      </p:sp>
      <p:sp>
        <p:nvSpPr>
          <p:cNvPr id="3" name="TextBox 2">
            <a:extLst>
              <a:ext uri="{FF2B5EF4-FFF2-40B4-BE49-F238E27FC236}">
                <a16:creationId xmlns:a16="http://schemas.microsoft.com/office/drawing/2014/main" id="{E7A7A261-4F7D-0E47-6E81-A49F87E758E0}"/>
              </a:ext>
            </a:extLst>
          </p:cNvPr>
          <p:cNvSpPr txBox="1"/>
          <p:nvPr/>
        </p:nvSpPr>
        <p:spPr>
          <a:xfrm>
            <a:off x="110318" y="4493342"/>
            <a:ext cx="8923364" cy="1200329"/>
          </a:xfrm>
          <a:prstGeom prst="rect">
            <a:avLst/>
          </a:prstGeom>
          <a:noFill/>
        </p:spPr>
        <p:txBody>
          <a:bodyPr wrap="square" rtlCol="0">
            <a:spAutoFit/>
          </a:bodyPr>
          <a:lstStyle/>
          <a:p>
            <a:r>
              <a:rPr lang="en-GB" dirty="0"/>
              <a:t>Nishit </a:t>
            </a:r>
            <a:r>
              <a:rPr lang="en-GB" dirty="0" err="1"/>
              <a:t>Mayasandra</a:t>
            </a:r>
            <a:r>
              <a:rPr lang="en-GB" dirty="0"/>
              <a:t> Vishwanath</a:t>
            </a:r>
          </a:p>
          <a:p>
            <a:r>
              <a:rPr lang="en-GB" dirty="0"/>
              <a:t>Neha Tyagi</a:t>
            </a:r>
          </a:p>
          <a:p>
            <a:r>
              <a:rPr lang="en-GB" dirty="0"/>
              <a:t>Piyush </a:t>
            </a:r>
            <a:r>
              <a:rPr lang="en-GB" dirty="0" err="1"/>
              <a:t>Dewnani</a:t>
            </a:r>
            <a:endParaRPr lang="en-GB" dirty="0"/>
          </a:p>
          <a:p>
            <a:r>
              <a:rPr lang="en-GB" dirty="0"/>
              <a:t>Pankaja </a:t>
            </a:r>
            <a:r>
              <a:rPr lang="en-GB" dirty="0" err="1"/>
              <a:t>Hosamani</a:t>
            </a:r>
            <a:endParaRPr lang="en-IN" dirty="0"/>
          </a:p>
        </p:txBody>
      </p:sp>
    </p:spTree>
    <p:extLst>
      <p:ext uri="{BB962C8B-B14F-4D97-AF65-F5344CB8AC3E}">
        <p14:creationId xmlns:p14="http://schemas.microsoft.com/office/powerpoint/2010/main" val="418856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Difference between CNN, </a:t>
            </a:r>
            <a:r>
              <a:rPr sz="3600" dirty="0" err="1"/>
              <a:t>ViT</a:t>
            </a:r>
            <a:r>
              <a:rPr sz="3600" dirty="0"/>
              <a:t> and </a:t>
            </a:r>
            <a:r>
              <a:rPr sz="3600" dirty="0" err="1"/>
              <a:t>CvT</a:t>
            </a:r>
            <a:endParaRPr sz="3600" dirty="0"/>
          </a:p>
        </p:txBody>
      </p:sp>
      <p:graphicFrame>
        <p:nvGraphicFramePr>
          <p:cNvPr id="3" name="Table 2"/>
          <p:cNvGraphicFramePr>
            <a:graphicFrameLocks noGrp="1"/>
          </p:cNvGraphicFramePr>
          <p:nvPr/>
        </p:nvGraphicFramePr>
        <p:xfrm>
          <a:off x="457200" y="1371600"/>
          <a:ext cx="822960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t>CNN</a:t>
                      </a:r>
                    </a:p>
                  </a:txBody>
                  <a:tcPr/>
                </a:tc>
                <a:tc>
                  <a:txBody>
                    <a:bodyPr/>
                    <a:lstStyle/>
                    <a:p>
                      <a:r>
                        <a:t>ViT</a:t>
                      </a:r>
                    </a:p>
                  </a:txBody>
                  <a:tcPr/>
                </a:tc>
                <a:tc>
                  <a:txBody>
                    <a:bodyPr/>
                    <a:lstStyle/>
                    <a:p>
                      <a:r>
                        <a:t>CViT / CvT</a:t>
                      </a:r>
                    </a:p>
                  </a:txBody>
                  <a:tcPr/>
                </a:tc>
                <a:extLst>
                  <a:ext uri="{0D108BD9-81ED-4DB2-BD59-A6C34878D82A}">
                    <a16:rowId xmlns:a16="http://schemas.microsoft.com/office/drawing/2014/main" val="10000"/>
                  </a:ext>
                </a:extLst>
              </a:tr>
              <a:tr h="457200">
                <a:tc>
                  <a:txBody>
                    <a:bodyPr/>
                    <a:lstStyle/>
                    <a:p>
                      <a:r>
                        <a:t>Uses convolution filters</a:t>
                      </a:r>
                    </a:p>
                  </a:txBody>
                  <a:tcPr/>
                </a:tc>
                <a:tc>
                  <a:txBody>
                    <a:bodyPr/>
                    <a:lstStyle/>
                    <a:p>
                      <a:r>
                        <a:t>Uses self-attention</a:t>
                      </a:r>
                    </a:p>
                  </a:txBody>
                  <a:tcPr/>
                </a:tc>
                <a:tc>
                  <a:txBody>
                    <a:bodyPr/>
                    <a:lstStyle/>
                    <a:p>
                      <a:r>
                        <a:t>Mixes convolution with attention</a:t>
                      </a:r>
                    </a:p>
                  </a:txBody>
                  <a:tcPr/>
                </a:tc>
                <a:extLst>
                  <a:ext uri="{0D108BD9-81ED-4DB2-BD59-A6C34878D82A}">
                    <a16:rowId xmlns:a16="http://schemas.microsoft.com/office/drawing/2014/main" val="10001"/>
                  </a:ext>
                </a:extLst>
              </a:tr>
              <a:tr h="457200">
                <a:tc>
                  <a:txBody>
                    <a:bodyPr/>
                    <a:lstStyle/>
                    <a:p>
                      <a:r>
                        <a:t>Local feature extraction</a:t>
                      </a:r>
                    </a:p>
                  </a:txBody>
                  <a:tcPr/>
                </a:tc>
                <a:tc>
                  <a:txBody>
                    <a:bodyPr/>
                    <a:lstStyle/>
                    <a:p>
                      <a:r>
                        <a:t>Global attention from start</a:t>
                      </a:r>
                    </a:p>
                  </a:txBody>
                  <a:tcPr/>
                </a:tc>
                <a:tc>
                  <a:txBody>
                    <a:bodyPr/>
                    <a:lstStyle/>
                    <a:p>
                      <a:r>
                        <a:t>Local conv + global attention</a:t>
                      </a:r>
                    </a:p>
                  </a:txBody>
                  <a:tcPr/>
                </a:tc>
                <a:extLst>
                  <a:ext uri="{0D108BD9-81ED-4DB2-BD59-A6C34878D82A}">
                    <a16:rowId xmlns:a16="http://schemas.microsoft.com/office/drawing/2014/main" val="10002"/>
                  </a:ext>
                </a:extLst>
              </a:tr>
              <a:tr h="457200">
                <a:tc>
                  <a:txBody>
                    <a:bodyPr/>
                    <a:lstStyle/>
                    <a:p>
                      <a:r>
                        <a:t>Fixed receptive field</a:t>
                      </a:r>
                    </a:p>
                  </a:txBody>
                  <a:tcPr/>
                </a:tc>
                <a:tc>
                  <a:txBody>
                    <a:bodyPr/>
                    <a:lstStyle/>
                    <a:p>
                      <a:r>
                        <a:t>Flexible receptive field</a:t>
                      </a:r>
                    </a:p>
                  </a:txBody>
                  <a:tcPr/>
                </a:tc>
                <a:tc>
                  <a:txBody>
                    <a:bodyPr/>
                    <a:lstStyle/>
                    <a:p>
                      <a:r>
                        <a:t>Adaptive receptive field</a:t>
                      </a:r>
                    </a:p>
                  </a:txBody>
                  <a:tcPr/>
                </a:tc>
                <a:extLst>
                  <a:ext uri="{0D108BD9-81ED-4DB2-BD59-A6C34878D82A}">
                    <a16:rowId xmlns:a16="http://schemas.microsoft.com/office/drawing/2014/main" val="10003"/>
                  </a:ext>
                </a:extLst>
              </a:tr>
              <a:tr h="457200">
                <a:tc>
                  <a:txBody>
                    <a:bodyPr/>
                    <a:lstStyle/>
                    <a:p>
                      <a:r>
                        <a:t>Needs more inductive bias</a:t>
                      </a:r>
                    </a:p>
                  </a:txBody>
                  <a:tcPr/>
                </a:tc>
                <a:tc>
                  <a:txBody>
                    <a:bodyPr/>
                    <a:lstStyle/>
                    <a:p>
                      <a:r>
                        <a:t>Less inductive bias</a:t>
                      </a:r>
                    </a:p>
                  </a:txBody>
                  <a:tcPr/>
                </a:tc>
                <a:tc>
                  <a:txBody>
                    <a:bodyPr/>
                    <a:lstStyle/>
                    <a:p>
                      <a:r>
                        <a:t>Moderate inductive bias</a:t>
                      </a:r>
                    </a:p>
                  </a:txBody>
                  <a:tcPr/>
                </a:tc>
                <a:extLst>
                  <a:ext uri="{0D108BD9-81ED-4DB2-BD59-A6C34878D82A}">
                    <a16:rowId xmlns:a16="http://schemas.microsoft.com/office/drawing/2014/main" val="10004"/>
                  </a:ext>
                </a:extLst>
              </a:tr>
              <a:tr h="457200">
                <a:tc>
                  <a:txBody>
                    <a:bodyPr/>
                    <a:lstStyle/>
                    <a:p>
                      <a:r>
                        <a:t>Good for small datasets</a:t>
                      </a:r>
                    </a:p>
                  </a:txBody>
                  <a:tcPr/>
                </a:tc>
                <a:tc>
                  <a:txBody>
                    <a:bodyPr/>
                    <a:lstStyle/>
                    <a:p>
                      <a:r>
                        <a:t>Needs large datasets</a:t>
                      </a:r>
                    </a:p>
                  </a:txBody>
                  <a:tcPr/>
                </a:tc>
                <a:tc>
                  <a:txBody>
                    <a:bodyPr/>
                    <a:lstStyle/>
                    <a:p>
                      <a:r>
                        <a:t>Works better on medium datasets</a:t>
                      </a:r>
                    </a:p>
                  </a:txBody>
                  <a:tcPr/>
                </a:tc>
                <a:extLst>
                  <a:ext uri="{0D108BD9-81ED-4DB2-BD59-A6C34878D82A}">
                    <a16:rowId xmlns:a16="http://schemas.microsoft.com/office/drawing/2014/main" val="10005"/>
                  </a:ext>
                </a:extLst>
              </a:tr>
              <a:tr h="457200">
                <a:tc>
                  <a:txBody>
                    <a:bodyPr/>
                    <a:lstStyle/>
                    <a:p>
                      <a:r>
                        <a:t>Hard to capture global info</a:t>
                      </a:r>
                    </a:p>
                  </a:txBody>
                  <a:tcPr/>
                </a:tc>
                <a:tc>
                  <a:txBody>
                    <a:bodyPr/>
                    <a:lstStyle/>
                    <a:p>
                      <a:r>
                        <a:t>Captures global info easily</a:t>
                      </a:r>
                    </a:p>
                  </a:txBody>
                  <a:tcPr/>
                </a:tc>
                <a:tc>
                  <a:txBody>
                    <a:bodyPr/>
                    <a:lstStyle/>
                    <a:p>
                      <a:r>
                        <a:t>Captures both effectively</a:t>
                      </a:r>
                    </a:p>
                  </a:txBody>
                  <a:tcPr/>
                </a:tc>
                <a:extLst>
                  <a:ext uri="{0D108BD9-81ED-4DB2-BD59-A6C34878D82A}">
                    <a16:rowId xmlns:a16="http://schemas.microsoft.com/office/drawing/2014/main" val="10006"/>
                  </a:ext>
                </a:extLst>
              </a:tr>
              <a:tr h="457200">
                <a:tc>
                  <a:txBody>
                    <a:bodyPr/>
                    <a:lstStyle/>
                    <a:p>
                      <a:r>
                        <a:t>Fast inference</a:t>
                      </a:r>
                    </a:p>
                  </a:txBody>
                  <a:tcPr/>
                </a:tc>
                <a:tc>
                  <a:txBody>
                    <a:bodyPr/>
                    <a:lstStyle/>
                    <a:p>
                      <a:r>
                        <a:t>Slower inference</a:t>
                      </a:r>
                    </a:p>
                  </a:txBody>
                  <a:tcPr/>
                </a:tc>
                <a:tc>
                  <a:txBody>
                    <a:bodyPr/>
                    <a:lstStyle/>
                    <a:p>
                      <a:r>
                        <a:t>Balanced speed</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9B7BF-A47A-D6FF-6B50-97495F43F270}"/>
              </a:ext>
            </a:extLst>
          </p:cNvPr>
          <p:cNvSpPr>
            <a:spLocks noGrp="1"/>
          </p:cNvSpPr>
          <p:nvPr>
            <p:ph type="title"/>
          </p:nvPr>
        </p:nvSpPr>
        <p:spPr/>
        <p:txBody>
          <a:bodyPr/>
          <a:lstStyle/>
          <a:p>
            <a:r>
              <a:rPr lang="en-US" dirty="0"/>
              <a:t>Convolutional Vision Transformer</a:t>
            </a:r>
            <a:endParaRPr lang="en-IN" dirty="0"/>
          </a:p>
        </p:txBody>
      </p:sp>
      <p:pic>
        <p:nvPicPr>
          <p:cNvPr id="4" name="Picture 3">
            <a:extLst>
              <a:ext uri="{FF2B5EF4-FFF2-40B4-BE49-F238E27FC236}">
                <a16:creationId xmlns:a16="http://schemas.microsoft.com/office/drawing/2014/main" id="{02ED5E3F-85A1-D9C8-C2DC-A3DA70F13541}"/>
              </a:ext>
            </a:extLst>
          </p:cNvPr>
          <p:cNvPicPr>
            <a:picLocks noChangeAspect="1"/>
          </p:cNvPicPr>
          <p:nvPr/>
        </p:nvPicPr>
        <p:blipFill>
          <a:blip r:embed="rId2"/>
          <a:stretch>
            <a:fillRect/>
          </a:stretch>
        </p:blipFill>
        <p:spPr>
          <a:xfrm>
            <a:off x="1453419" y="3654234"/>
            <a:ext cx="4243293" cy="2828862"/>
          </a:xfrm>
          <a:prstGeom prst="rect">
            <a:avLst/>
          </a:prstGeom>
        </p:spPr>
      </p:pic>
      <p:pic>
        <p:nvPicPr>
          <p:cNvPr id="3" name="Content Placeholder 4">
            <a:extLst>
              <a:ext uri="{FF2B5EF4-FFF2-40B4-BE49-F238E27FC236}">
                <a16:creationId xmlns:a16="http://schemas.microsoft.com/office/drawing/2014/main" id="{4035EE4F-3CD2-2661-854F-4B9542E0B8DB}"/>
              </a:ext>
            </a:extLst>
          </p:cNvPr>
          <p:cNvPicPr>
            <a:picLocks noChangeAspect="1"/>
          </p:cNvPicPr>
          <p:nvPr/>
        </p:nvPicPr>
        <p:blipFill>
          <a:blip r:embed="rId3"/>
          <a:stretch>
            <a:fillRect/>
          </a:stretch>
        </p:blipFill>
        <p:spPr>
          <a:xfrm>
            <a:off x="1142761" y="1234002"/>
            <a:ext cx="6382512" cy="2420232"/>
          </a:xfrm>
          <a:prstGeom prst="rect">
            <a:avLst/>
          </a:prstGeom>
        </p:spPr>
      </p:pic>
    </p:spTree>
    <p:extLst>
      <p:ext uri="{BB962C8B-B14F-4D97-AF65-F5344CB8AC3E}">
        <p14:creationId xmlns:p14="http://schemas.microsoft.com/office/powerpoint/2010/main" val="1526218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8FD0-23E9-ABF7-DC99-363F6852E827}"/>
              </a:ext>
            </a:extLst>
          </p:cNvPr>
          <p:cNvSpPr>
            <a:spLocks noGrp="1"/>
          </p:cNvSpPr>
          <p:nvPr>
            <p:ph type="title"/>
          </p:nvPr>
        </p:nvSpPr>
        <p:spPr/>
        <p:txBody>
          <a:bodyPr/>
          <a:lstStyle/>
          <a:p>
            <a:r>
              <a:rPr lang="en-US" dirty="0"/>
              <a:t>CIFAR-10 dataset</a:t>
            </a:r>
            <a:endParaRPr lang="en-IN" dirty="0"/>
          </a:p>
        </p:txBody>
      </p:sp>
      <p:pic>
        <p:nvPicPr>
          <p:cNvPr id="9" name="Content Placeholder 8">
            <a:extLst>
              <a:ext uri="{FF2B5EF4-FFF2-40B4-BE49-F238E27FC236}">
                <a16:creationId xmlns:a16="http://schemas.microsoft.com/office/drawing/2014/main" id="{9DDA04E9-5860-39C0-47DE-7E3A985C59DA}"/>
              </a:ext>
            </a:extLst>
          </p:cNvPr>
          <p:cNvPicPr>
            <a:picLocks noGrp="1" noChangeAspect="1"/>
          </p:cNvPicPr>
          <p:nvPr>
            <p:ph idx="1"/>
          </p:nvPr>
        </p:nvPicPr>
        <p:blipFill>
          <a:blip r:embed="rId2"/>
          <a:stretch>
            <a:fillRect/>
          </a:stretch>
        </p:blipFill>
        <p:spPr>
          <a:xfrm>
            <a:off x="4526280" y="2050041"/>
            <a:ext cx="4286848" cy="2181529"/>
          </a:xfrm>
          <a:prstGeom prst="rect">
            <a:avLst/>
          </a:prstGeom>
        </p:spPr>
      </p:pic>
      <p:sp>
        <p:nvSpPr>
          <p:cNvPr id="11" name="TextBox 10">
            <a:extLst>
              <a:ext uri="{FF2B5EF4-FFF2-40B4-BE49-F238E27FC236}">
                <a16:creationId xmlns:a16="http://schemas.microsoft.com/office/drawing/2014/main" id="{A0C6C392-F711-F247-2F21-4C379D3193B5}"/>
              </a:ext>
            </a:extLst>
          </p:cNvPr>
          <p:cNvSpPr txBox="1"/>
          <p:nvPr/>
        </p:nvSpPr>
        <p:spPr>
          <a:xfrm>
            <a:off x="237744" y="1636776"/>
            <a:ext cx="389534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CIFAR-10 is a widely used benchmark dataset in computer vision.</a:t>
            </a:r>
          </a:p>
          <a:p>
            <a:pPr marL="285750" indent="-285750">
              <a:buFont typeface="Arial" panose="020B0604020202020204" pitchFamily="34" charset="0"/>
              <a:buChar char="•"/>
            </a:pPr>
            <a:r>
              <a:rPr lang="en-US" dirty="0"/>
              <a:t>Contains 60,000 color images (32×32 pixels).</a:t>
            </a:r>
          </a:p>
          <a:p>
            <a:pPr marL="285750" indent="-285750">
              <a:buFont typeface="Arial" panose="020B0604020202020204" pitchFamily="34" charset="0"/>
              <a:buChar char="•"/>
            </a:pPr>
            <a:r>
              <a:rPr lang="en-US" dirty="0"/>
              <a:t>50,000 training images and 10,000 test images.</a:t>
            </a:r>
          </a:p>
          <a:p>
            <a:pPr marL="285750" indent="-285750">
              <a:buFont typeface="Arial" panose="020B0604020202020204" pitchFamily="34" charset="0"/>
              <a:buChar char="•"/>
            </a:pPr>
            <a:r>
              <a:rPr lang="en-US" dirty="0"/>
              <a:t>10 balanced classes:</a:t>
            </a:r>
          </a:p>
          <a:p>
            <a:r>
              <a:rPr lang="en-US" dirty="0"/>
              <a:t>      airplane, automobile, bird, cat, deer,</a:t>
            </a:r>
          </a:p>
          <a:p>
            <a:r>
              <a:rPr lang="en-US" dirty="0"/>
              <a:t>      dog, frog, horse, ship, truck.</a:t>
            </a:r>
          </a:p>
          <a:p>
            <a:pPr marL="285750" indent="-285750">
              <a:buFont typeface="Arial" panose="020B0604020202020204" pitchFamily="34" charset="0"/>
              <a:buChar char="•"/>
            </a:pPr>
            <a:r>
              <a:rPr lang="en-US" dirty="0"/>
              <a:t>All classes have 6,000 images each (balanced dataset).</a:t>
            </a:r>
          </a:p>
          <a:p>
            <a:pPr marL="285750" indent="-285750">
              <a:buFont typeface="Arial" panose="020B0604020202020204" pitchFamily="34" charset="0"/>
              <a:buChar char="•"/>
            </a:pPr>
            <a:r>
              <a:rPr lang="en-US" dirty="0"/>
              <a:t>Includes diversity in pose, color, and background.</a:t>
            </a:r>
          </a:p>
          <a:p>
            <a:endParaRPr lang="en-IN" dirty="0"/>
          </a:p>
        </p:txBody>
      </p:sp>
    </p:spTree>
    <p:extLst>
      <p:ext uri="{BB962C8B-B14F-4D97-AF65-F5344CB8AC3E}">
        <p14:creationId xmlns:p14="http://schemas.microsoft.com/office/powerpoint/2010/main" val="338181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7EB82-DD37-C584-E0A9-956779FB154D}"/>
              </a:ext>
            </a:extLst>
          </p:cNvPr>
          <p:cNvSpPr>
            <a:spLocks noGrp="1"/>
          </p:cNvSpPr>
          <p:nvPr>
            <p:ph type="title"/>
          </p:nvPr>
        </p:nvSpPr>
        <p:spPr/>
        <p:txBody>
          <a:bodyPr/>
          <a:lstStyle/>
          <a:p>
            <a:r>
              <a:rPr lang="en-GB" dirty="0"/>
              <a:t>Experiments with CVT</a:t>
            </a:r>
            <a:endParaRPr lang="en-IN" dirty="0"/>
          </a:p>
        </p:txBody>
      </p:sp>
      <p:sp>
        <p:nvSpPr>
          <p:cNvPr id="3" name="Content Placeholder 2">
            <a:extLst>
              <a:ext uri="{FF2B5EF4-FFF2-40B4-BE49-F238E27FC236}">
                <a16:creationId xmlns:a16="http://schemas.microsoft.com/office/drawing/2014/main" id="{FE643609-E672-A76A-6C3A-73287A576FC9}"/>
              </a:ext>
            </a:extLst>
          </p:cNvPr>
          <p:cNvSpPr>
            <a:spLocks noGrp="1"/>
          </p:cNvSpPr>
          <p:nvPr>
            <p:ph idx="1"/>
          </p:nvPr>
        </p:nvSpPr>
        <p:spPr/>
        <p:txBody>
          <a:bodyPr>
            <a:normAutofit/>
          </a:bodyPr>
          <a:lstStyle/>
          <a:p>
            <a:r>
              <a:rPr lang="en-GB" sz="1800" dirty="0"/>
              <a:t>Transformations to improve accuracy ( Random Augment) </a:t>
            </a:r>
          </a:p>
          <a:p>
            <a:r>
              <a:rPr lang="en-GB" sz="1800" dirty="0"/>
              <a:t>Change of Optimizer</a:t>
            </a:r>
          </a:p>
          <a:p>
            <a:r>
              <a:rPr lang="en-GB" sz="1800" dirty="0"/>
              <a:t>Positional Embedding vs Class Token vs Global Average Pooling</a:t>
            </a:r>
          </a:p>
          <a:p>
            <a:r>
              <a:rPr lang="en-GB" sz="1800" dirty="0"/>
              <a:t>Warmup, Scheduling &amp; Weight Decay</a:t>
            </a:r>
          </a:p>
          <a:p>
            <a:r>
              <a:rPr lang="en-GB" sz="1800" dirty="0"/>
              <a:t>Stride changes for K and V in Convolutional Block in CVT </a:t>
            </a:r>
          </a:p>
          <a:p>
            <a:endParaRPr lang="en-IN" sz="1800" dirty="0"/>
          </a:p>
        </p:txBody>
      </p:sp>
    </p:spTree>
    <p:extLst>
      <p:ext uri="{BB962C8B-B14F-4D97-AF65-F5344CB8AC3E}">
        <p14:creationId xmlns:p14="http://schemas.microsoft.com/office/powerpoint/2010/main" val="595186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6CD41848-D48B-184A-3C0C-910789361B49}"/>
              </a:ext>
            </a:extLst>
          </p:cNvPr>
          <p:cNvSpPr/>
          <p:nvPr/>
        </p:nvSpPr>
        <p:spPr>
          <a:xfrm>
            <a:off x="145161" y="4952284"/>
            <a:ext cx="3902202" cy="1137126"/>
          </a:xfrm>
          <a:prstGeom prst="roundRect">
            <a:avLst/>
          </a:prstGeom>
          <a:solidFill>
            <a:schemeClr val="accent3">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7862FBAD-4F38-3E7D-38A1-0F1E51C7B569}"/>
              </a:ext>
            </a:extLst>
          </p:cNvPr>
          <p:cNvSpPr/>
          <p:nvPr/>
        </p:nvSpPr>
        <p:spPr>
          <a:xfrm>
            <a:off x="4224528" y="1413266"/>
            <a:ext cx="4773168" cy="3177022"/>
          </a:xfrm>
          <a:prstGeom prst="round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D839708-AD0F-EF08-6265-8C18DF1EE5BE}"/>
              </a:ext>
            </a:extLst>
          </p:cNvPr>
          <p:cNvSpPr>
            <a:spLocks noGrp="1"/>
          </p:cNvSpPr>
          <p:nvPr>
            <p:ph type="title"/>
          </p:nvPr>
        </p:nvSpPr>
        <p:spPr/>
        <p:txBody>
          <a:bodyPr/>
          <a:lstStyle/>
          <a:p>
            <a:r>
              <a:rPr lang="en-US" dirty="0"/>
              <a:t>Transformations</a:t>
            </a:r>
            <a:endParaRPr lang="en-IN" dirty="0"/>
          </a:p>
        </p:txBody>
      </p:sp>
      <p:sp>
        <p:nvSpPr>
          <p:cNvPr id="6" name="TextBox 5">
            <a:extLst>
              <a:ext uri="{FF2B5EF4-FFF2-40B4-BE49-F238E27FC236}">
                <a16:creationId xmlns:a16="http://schemas.microsoft.com/office/drawing/2014/main" id="{642CD255-BF86-8A6C-69B0-1B7B4B5801AB}"/>
              </a:ext>
            </a:extLst>
          </p:cNvPr>
          <p:cNvSpPr txBox="1"/>
          <p:nvPr/>
        </p:nvSpPr>
        <p:spPr>
          <a:xfrm>
            <a:off x="4425696" y="1539872"/>
            <a:ext cx="4572000" cy="2893100"/>
          </a:xfrm>
          <a:prstGeom prst="rect">
            <a:avLst/>
          </a:prstGeom>
          <a:noFill/>
        </p:spPr>
        <p:txBody>
          <a:bodyPr wrap="square">
            <a:spAutoFit/>
          </a:bodyPr>
          <a:lstStyle/>
          <a:p>
            <a:pPr algn="just"/>
            <a:r>
              <a:rPr lang="en-US" sz="1400" b="1" dirty="0" err="1"/>
              <a:t>RandomCrop</a:t>
            </a:r>
            <a:r>
              <a:rPr lang="en-US" sz="1400" b="1" dirty="0"/>
              <a:t> (32, padding=4)</a:t>
            </a:r>
          </a:p>
          <a:p>
            <a:pPr marL="342900" indent="-342900" algn="just">
              <a:buFont typeface="+mj-lt"/>
              <a:buAutoNum type="arabicPeriod"/>
            </a:pPr>
            <a:r>
              <a:rPr lang="en-US" sz="1400" dirty="0"/>
              <a:t>Randomly crops a 32×32 section of the image after padding the edges by 4 pixels.</a:t>
            </a:r>
          </a:p>
          <a:p>
            <a:pPr marL="342900" indent="-342900" algn="just">
              <a:buFont typeface="+mj-lt"/>
              <a:buAutoNum type="arabicPeriod"/>
            </a:pPr>
            <a:r>
              <a:rPr lang="en-US" sz="1400" dirty="0"/>
              <a:t>Helps the model become robust to shifts and spatial variations.</a:t>
            </a:r>
          </a:p>
          <a:p>
            <a:pPr algn="just"/>
            <a:r>
              <a:rPr lang="en-US" sz="1400" b="1" dirty="0" err="1"/>
              <a:t>RandomHorizontalFlip</a:t>
            </a:r>
            <a:r>
              <a:rPr lang="en-US" sz="1400" b="1" dirty="0"/>
              <a:t> ()</a:t>
            </a:r>
          </a:p>
          <a:p>
            <a:pPr marL="342900" indent="-342900" algn="just">
              <a:buFont typeface="+mj-lt"/>
              <a:buAutoNum type="arabicPeriod"/>
            </a:pPr>
            <a:r>
              <a:rPr lang="en-US" sz="1400" dirty="0"/>
              <a:t>Flips images left-right with a 50% probability.</a:t>
            </a:r>
          </a:p>
          <a:p>
            <a:pPr marL="342900" indent="-342900" algn="just">
              <a:buFont typeface="+mj-lt"/>
              <a:buAutoNum type="arabicPeriod"/>
            </a:pPr>
            <a:r>
              <a:rPr lang="en-US" sz="1400" dirty="0"/>
              <a:t>Useful for recognizing objects regardless of mirroring.</a:t>
            </a:r>
          </a:p>
          <a:p>
            <a:pPr algn="just"/>
            <a:r>
              <a:rPr lang="en-US" sz="1400" b="1" dirty="0" err="1"/>
              <a:t>RandAugment</a:t>
            </a:r>
            <a:r>
              <a:rPr lang="en-US" sz="1400" b="1" dirty="0"/>
              <a:t> (</a:t>
            </a:r>
            <a:r>
              <a:rPr lang="en-US" sz="1400" b="1" dirty="0" err="1"/>
              <a:t>num_ops</a:t>
            </a:r>
            <a:r>
              <a:rPr lang="en-US" sz="1400" b="1" dirty="0"/>
              <a:t>=2, magnitude=9)</a:t>
            </a:r>
          </a:p>
          <a:p>
            <a:pPr marL="342900" indent="-342900" algn="just">
              <a:buFont typeface="+mj-lt"/>
              <a:buAutoNum type="arabicPeriod"/>
            </a:pPr>
            <a:r>
              <a:rPr lang="en-US" sz="1400" dirty="0"/>
              <a:t>Automatically applies two random augmentations (e.g., rotation, color jitter, shear).</a:t>
            </a:r>
          </a:p>
          <a:p>
            <a:pPr marL="342900" indent="-342900" algn="just">
              <a:buFont typeface="+mj-lt"/>
              <a:buAutoNum type="arabicPeriod"/>
            </a:pPr>
            <a:r>
              <a:rPr lang="en-US" sz="1400" dirty="0"/>
              <a:t>Magnitude = 9 controls the augmentation       strength.</a:t>
            </a:r>
          </a:p>
          <a:p>
            <a:pPr marL="342900" indent="-342900" algn="just">
              <a:buFont typeface="+mj-lt"/>
              <a:buAutoNum type="arabicPeriod"/>
            </a:pPr>
            <a:r>
              <a:rPr lang="en-US" sz="1400" dirty="0"/>
              <a:t>Greatly increases data diversity without manual tuning.</a:t>
            </a:r>
            <a:endParaRPr lang="en-IN" sz="1400" dirty="0"/>
          </a:p>
        </p:txBody>
      </p:sp>
      <p:sp>
        <p:nvSpPr>
          <p:cNvPr id="7" name="Rectangle: Rounded Corners 6">
            <a:extLst>
              <a:ext uri="{FF2B5EF4-FFF2-40B4-BE49-F238E27FC236}">
                <a16:creationId xmlns:a16="http://schemas.microsoft.com/office/drawing/2014/main" id="{8C7795F7-DE3F-397B-7880-C04281AD148F}"/>
              </a:ext>
            </a:extLst>
          </p:cNvPr>
          <p:cNvSpPr/>
          <p:nvPr/>
        </p:nvSpPr>
        <p:spPr>
          <a:xfrm>
            <a:off x="347472" y="1427211"/>
            <a:ext cx="3767328" cy="2651760"/>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 name="Content Placeholder 2">
            <a:extLst>
              <a:ext uri="{FF2B5EF4-FFF2-40B4-BE49-F238E27FC236}">
                <a16:creationId xmlns:a16="http://schemas.microsoft.com/office/drawing/2014/main" id="{8A2AA72F-98A5-F01D-1199-853CA4CCC0EB}"/>
              </a:ext>
            </a:extLst>
          </p:cNvPr>
          <p:cNvSpPr txBox="1">
            <a:spLocks/>
          </p:cNvSpPr>
          <p:nvPr/>
        </p:nvSpPr>
        <p:spPr>
          <a:xfrm>
            <a:off x="384048" y="1591803"/>
            <a:ext cx="3931920" cy="2322576"/>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b="1" dirty="0"/>
              <a:t>CIFAR-10 Mean: </a:t>
            </a:r>
          </a:p>
          <a:p>
            <a:pPr>
              <a:buFont typeface="+mj-lt"/>
              <a:buAutoNum type="arabicPeriod"/>
            </a:pPr>
            <a:r>
              <a:rPr lang="en-US" sz="1800" dirty="0"/>
              <a:t>Represents the average pixel intensity of the dataset across the 3 RGB channels.</a:t>
            </a:r>
          </a:p>
          <a:p>
            <a:pPr>
              <a:buFont typeface="+mj-lt"/>
              <a:buAutoNum type="arabicPeriod"/>
            </a:pPr>
            <a:r>
              <a:rPr lang="en-US" sz="1800" dirty="0"/>
              <a:t>R = 0.4914, G = 0.4822 and B = 0.4465</a:t>
            </a:r>
          </a:p>
          <a:p>
            <a:pPr marL="0" indent="0">
              <a:buFont typeface="Arial"/>
              <a:buNone/>
            </a:pPr>
            <a:endParaRPr lang="en-US" sz="1800" dirty="0"/>
          </a:p>
          <a:p>
            <a:pPr marL="0" indent="0">
              <a:buFont typeface="Arial"/>
              <a:buNone/>
            </a:pPr>
            <a:r>
              <a:rPr lang="en-US" sz="1800" b="1" dirty="0"/>
              <a:t>CIFAR-10 Std:</a:t>
            </a:r>
          </a:p>
          <a:p>
            <a:pPr>
              <a:buFont typeface="+mj-lt"/>
              <a:buAutoNum type="arabicPeriod"/>
            </a:pPr>
            <a:r>
              <a:rPr lang="en-US" sz="1800" dirty="0"/>
              <a:t>Represents the variation of pixel values for each RGB channel.</a:t>
            </a:r>
          </a:p>
          <a:p>
            <a:pPr>
              <a:buFont typeface="+mj-lt"/>
              <a:buAutoNum type="arabicPeriod"/>
            </a:pPr>
            <a:r>
              <a:rPr lang="en-US" sz="1800" dirty="0"/>
              <a:t>Important for scaling the input so all features contribute equally.</a:t>
            </a:r>
          </a:p>
          <a:p>
            <a:pPr>
              <a:buFont typeface="+mj-lt"/>
              <a:buAutoNum type="arabicPeriod"/>
            </a:pPr>
            <a:r>
              <a:rPr lang="en-US" sz="1800" dirty="0"/>
              <a:t>Prevents unstable gradients during training.</a:t>
            </a:r>
            <a:endParaRPr lang="en-IN" sz="1800" dirty="0"/>
          </a:p>
        </p:txBody>
      </p:sp>
      <p:sp>
        <p:nvSpPr>
          <p:cNvPr id="15" name="TextBox 14">
            <a:extLst>
              <a:ext uri="{FF2B5EF4-FFF2-40B4-BE49-F238E27FC236}">
                <a16:creationId xmlns:a16="http://schemas.microsoft.com/office/drawing/2014/main" id="{524AECFC-B02B-4161-5DCA-3960731F3502}"/>
              </a:ext>
            </a:extLst>
          </p:cNvPr>
          <p:cNvSpPr txBox="1"/>
          <p:nvPr/>
        </p:nvSpPr>
        <p:spPr>
          <a:xfrm>
            <a:off x="212598" y="4970572"/>
            <a:ext cx="3767328" cy="954107"/>
          </a:xfrm>
          <a:prstGeom prst="rect">
            <a:avLst/>
          </a:prstGeom>
          <a:noFill/>
        </p:spPr>
        <p:txBody>
          <a:bodyPr wrap="square">
            <a:spAutoFit/>
          </a:bodyPr>
          <a:lstStyle/>
          <a:p>
            <a:pPr>
              <a:buNone/>
            </a:pPr>
            <a:r>
              <a:rPr lang="en-IN" sz="1400" b="1" dirty="0" err="1"/>
              <a:t>ToTensor</a:t>
            </a:r>
            <a:r>
              <a:rPr lang="en-IN" sz="1400" b="1" dirty="0"/>
              <a:t>()</a:t>
            </a:r>
          </a:p>
          <a:p>
            <a:r>
              <a:rPr lang="en-IN" sz="1400" dirty="0"/>
              <a:t>Converts the image from a PIL/NumPy format into a </a:t>
            </a:r>
            <a:r>
              <a:rPr lang="en-IN" sz="1400" dirty="0" err="1"/>
              <a:t>PyTorch</a:t>
            </a:r>
            <a:r>
              <a:rPr lang="en-IN" sz="1400" dirty="0"/>
              <a:t> tensor.</a:t>
            </a:r>
          </a:p>
          <a:p>
            <a:r>
              <a:rPr lang="en-IN" sz="1400" dirty="0"/>
              <a:t>Scales pixel values from </a:t>
            </a:r>
            <a:r>
              <a:rPr lang="en-IN" sz="1400" b="1" dirty="0"/>
              <a:t>0–255 to 0–1</a:t>
            </a:r>
            <a:r>
              <a:rPr lang="en-IN" sz="1400" dirty="0"/>
              <a:t>.</a:t>
            </a:r>
          </a:p>
        </p:txBody>
      </p:sp>
      <p:sp>
        <p:nvSpPr>
          <p:cNvPr id="20" name="Rectangle: Rounded Corners 19">
            <a:extLst>
              <a:ext uri="{FF2B5EF4-FFF2-40B4-BE49-F238E27FC236}">
                <a16:creationId xmlns:a16="http://schemas.microsoft.com/office/drawing/2014/main" id="{8E03E560-6E92-960D-DD14-52ACB1E4117B}"/>
              </a:ext>
            </a:extLst>
          </p:cNvPr>
          <p:cNvSpPr/>
          <p:nvPr/>
        </p:nvSpPr>
        <p:spPr>
          <a:xfrm>
            <a:off x="4645152" y="4859320"/>
            <a:ext cx="4105656" cy="1486616"/>
          </a:xfrm>
          <a:prstGeom prst="roundRect">
            <a:avLst/>
          </a:prstGeom>
          <a:solidFill>
            <a:schemeClr val="accent4">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0171318-8226-9E77-110B-D66F5DB8204E}"/>
                  </a:ext>
                </a:extLst>
              </p:cNvPr>
              <p:cNvSpPr txBox="1"/>
              <p:nvPr/>
            </p:nvSpPr>
            <p:spPr>
              <a:xfrm>
                <a:off x="4720590" y="4859320"/>
                <a:ext cx="4277106" cy="1323054"/>
              </a:xfrm>
              <a:prstGeom prst="rect">
                <a:avLst/>
              </a:prstGeom>
              <a:noFill/>
            </p:spPr>
            <p:txBody>
              <a:bodyPr wrap="square">
                <a:spAutoFit/>
              </a:bodyPr>
              <a:lstStyle/>
              <a:p>
                <a:pPr>
                  <a:buNone/>
                </a:pPr>
                <a:r>
                  <a:rPr lang="en-IN" sz="1400" b="1" dirty="0"/>
                  <a:t>Normalize(mean, std)</a:t>
                </a:r>
              </a:p>
              <a:p>
                <a:pPr>
                  <a:buFont typeface="Arial" panose="020B0604020202020204" pitchFamily="34" charset="0"/>
                  <a:buChar char="•"/>
                </a:pPr>
                <a:r>
                  <a:rPr lang="en-IN" sz="1400" dirty="0"/>
                  <a:t>Applies channel-wise normalization:</a:t>
                </a:r>
              </a:p>
              <a:p>
                <a:pPr>
                  <a:buNone/>
                </a:pPr>
                <a14:m>
                  <m:oMathPara xmlns:m="http://schemas.openxmlformats.org/officeDocument/2006/math">
                    <m:oMathParaPr>
                      <m:jc m:val="centerGroup"/>
                    </m:oMathParaPr>
                    <m:oMath xmlns:m="http://schemas.openxmlformats.org/officeDocument/2006/math">
                      <m:sSup>
                        <m:sSupPr>
                          <m:ctrlPr>
                            <a:rPr lang="ar-AE" sz="1400" i="1">
                              <a:latin typeface="Cambria Math" panose="02040503050406030204" pitchFamily="18" charset="0"/>
                            </a:rPr>
                          </m:ctrlPr>
                        </m:sSupPr>
                        <m:e>
                          <m:r>
                            <a:rPr lang="ar-AE" sz="1400" i="1">
                              <a:latin typeface="Cambria Math" panose="02040503050406030204" pitchFamily="18" charset="0"/>
                            </a:rPr>
                            <m:t>𝑥</m:t>
                          </m:r>
                        </m:e>
                        <m:sup>
                          <m:r>
                            <a:rPr lang="ar-AE" sz="1400" i="0">
                              <a:latin typeface="Cambria Math" panose="02040503050406030204" pitchFamily="18" charset="0"/>
                            </a:rPr>
                            <m:t>′</m:t>
                          </m:r>
                        </m:sup>
                      </m:sSup>
                      <m:r>
                        <a:rPr lang="ar-AE" sz="1400" i="0">
                          <a:latin typeface="Cambria Math" panose="02040503050406030204" pitchFamily="18" charset="0"/>
                        </a:rPr>
                        <m:t>=</m:t>
                      </m:r>
                      <m:f>
                        <m:fPr>
                          <m:ctrlPr>
                            <a:rPr lang="ar-AE" sz="1400" i="1">
                              <a:latin typeface="Cambria Math" panose="02040503050406030204" pitchFamily="18" charset="0"/>
                            </a:rPr>
                          </m:ctrlPr>
                        </m:fPr>
                        <m:num>
                          <m:r>
                            <a:rPr lang="ar-AE" sz="1400" i="1">
                              <a:latin typeface="Cambria Math" panose="02040503050406030204" pitchFamily="18" charset="0"/>
                            </a:rPr>
                            <m:t>𝑥</m:t>
                          </m:r>
                          <m:r>
                            <a:rPr lang="ar-AE" sz="1400" i="0">
                              <a:latin typeface="Cambria Math" panose="02040503050406030204" pitchFamily="18" charset="0"/>
                            </a:rPr>
                            <m:t>−</m:t>
                          </m:r>
                          <m:r>
                            <m:rPr>
                              <m:nor/>
                            </m:rPr>
                            <a:rPr lang="en-IN" sz="1400" b="0" i="1">
                              <a:latin typeface="Cambria Math" panose="02040503050406030204" pitchFamily="18" charset="0"/>
                            </a:rPr>
                            <m:t>mean</m:t>
                          </m:r>
                        </m:num>
                        <m:den>
                          <m:r>
                            <m:rPr>
                              <m:nor/>
                            </m:rPr>
                            <a:rPr lang="en-IN" sz="1400" b="0" i="1">
                              <a:latin typeface="Cambria Math" panose="02040503050406030204" pitchFamily="18" charset="0"/>
                            </a:rPr>
                            <m:t>std</m:t>
                          </m:r>
                        </m:den>
                      </m:f>
                    </m:oMath>
                  </m:oMathPara>
                </a14:m>
                <a:endParaRPr lang="ar-AE" sz="1400" b="0" dirty="0"/>
              </a:p>
              <a:p>
                <a:pPr>
                  <a:buFont typeface="Arial" panose="020B0604020202020204" pitchFamily="34" charset="0"/>
                  <a:buChar char="•"/>
                </a:pPr>
                <a:r>
                  <a:rPr lang="en-IN" sz="1400" dirty="0"/>
                  <a:t>Ensures consistent input distribution for stable and faster training.</a:t>
                </a:r>
              </a:p>
            </p:txBody>
          </p:sp>
        </mc:Choice>
        <mc:Fallback xmlns="">
          <p:sp>
            <p:nvSpPr>
              <p:cNvPr id="13" name="TextBox 12">
                <a:extLst>
                  <a:ext uri="{FF2B5EF4-FFF2-40B4-BE49-F238E27FC236}">
                    <a16:creationId xmlns:a16="http://schemas.microsoft.com/office/drawing/2014/main" id="{A0171318-8226-9E77-110B-D66F5DB8204E}"/>
                  </a:ext>
                </a:extLst>
              </p:cNvPr>
              <p:cNvSpPr txBox="1">
                <a:spLocks noRot="1" noChangeAspect="1" noMove="1" noResize="1" noEditPoints="1" noAdjustHandles="1" noChangeArrowheads="1" noChangeShapeType="1" noTextEdit="1"/>
              </p:cNvSpPr>
              <p:nvPr/>
            </p:nvSpPr>
            <p:spPr>
              <a:xfrm>
                <a:off x="4720590" y="4859320"/>
                <a:ext cx="4277106" cy="1323054"/>
              </a:xfrm>
              <a:prstGeom prst="rect">
                <a:avLst/>
              </a:prstGeom>
              <a:blipFill>
                <a:blip r:embed="rId2"/>
                <a:stretch>
                  <a:fillRect l="-427" t="-922" b="-4147"/>
                </a:stretch>
              </a:blipFill>
            </p:spPr>
            <p:txBody>
              <a:bodyPr/>
              <a:lstStyle/>
              <a:p>
                <a:r>
                  <a:rPr lang="en-IN">
                    <a:noFill/>
                  </a:rPr>
                  <a:t> </a:t>
                </a:r>
              </a:p>
            </p:txBody>
          </p:sp>
        </mc:Fallback>
      </mc:AlternateContent>
    </p:spTree>
    <p:extLst>
      <p:ext uri="{BB962C8B-B14F-4D97-AF65-F5344CB8AC3E}">
        <p14:creationId xmlns:p14="http://schemas.microsoft.com/office/powerpoint/2010/main" val="379414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7206-76F7-50A8-7201-321FD306157F}"/>
              </a:ext>
            </a:extLst>
          </p:cNvPr>
          <p:cNvSpPr>
            <a:spLocks noGrp="1"/>
          </p:cNvSpPr>
          <p:nvPr>
            <p:ph type="title"/>
          </p:nvPr>
        </p:nvSpPr>
        <p:spPr/>
        <p:txBody>
          <a:bodyPr/>
          <a:lstStyle/>
          <a:p>
            <a:r>
              <a:rPr lang="en-US" dirty="0"/>
              <a:t>Optimizer</a:t>
            </a:r>
            <a:endParaRPr lang="en-IN" dirty="0"/>
          </a:p>
        </p:txBody>
      </p:sp>
      <p:sp>
        <p:nvSpPr>
          <p:cNvPr id="4" name="Content Placeholder 2">
            <a:extLst>
              <a:ext uri="{FF2B5EF4-FFF2-40B4-BE49-F238E27FC236}">
                <a16:creationId xmlns:a16="http://schemas.microsoft.com/office/drawing/2014/main" id="{3CC5B79E-5C1D-ECDD-4CE8-7A579264BC37}"/>
              </a:ext>
            </a:extLst>
          </p:cNvPr>
          <p:cNvSpPr>
            <a:spLocks noGrp="1"/>
          </p:cNvSpPr>
          <p:nvPr>
            <p:ph idx="1"/>
          </p:nvPr>
        </p:nvSpPr>
        <p:spPr>
          <a:xfrm>
            <a:off x="457200" y="1600200"/>
            <a:ext cx="8229600" cy="4525963"/>
          </a:xfrm>
        </p:spPr>
        <p:txBody>
          <a:bodyPr>
            <a:normAutofit lnSpcReduction="10000"/>
          </a:bodyPr>
          <a:lstStyle/>
          <a:p>
            <a:pPr marL="0" indent="0">
              <a:buNone/>
            </a:pPr>
            <a:r>
              <a:rPr sz="1800" dirty="0" err="1"/>
              <a:t>AdamW</a:t>
            </a:r>
            <a:r>
              <a:rPr sz="1800" dirty="0"/>
              <a:t> (</a:t>
            </a:r>
            <a:r>
              <a:rPr lang="en-GB" sz="1800" dirty="0"/>
              <a:t>Adam with </a:t>
            </a:r>
            <a:r>
              <a:rPr sz="1800" dirty="0"/>
              <a:t>decoupled weight decay</a:t>
            </a:r>
            <a:r>
              <a:rPr lang="en-GB" sz="1800" dirty="0"/>
              <a:t>, decouples weight decay from gradient update</a:t>
            </a:r>
            <a:r>
              <a:rPr sz="1800" dirty="0"/>
              <a:t>):</a:t>
            </a:r>
          </a:p>
          <a:p>
            <a:r>
              <a:rPr sz="1800" dirty="0"/>
              <a:t>Adaptive optimizer with per-parameter learning rates.</a:t>
            </a:r>
          </a:p>
          <a:p>
            <a:r>
              <a:rPr sz="1800" dirty="0"/>
              <a:t>Uses momentum-like moving averages of gradients and squared gradients.</a:t>
            </a:r>
          </a:p>
          <a:p>
            <a:r>
              <a:rPr sz="1800" dirty="0"/>
              <a:t>Decouples weight decay from adaptive updates for correct L2 regularization.</a:t>
            </a:r>
          </a:p>
          <a:p>
            <a:endParaRPr sz="1800" dirty="0"/>
          </a:p>
          <a:p>
            <a:pPr marL="0" indent="0">
              <a:buNone/>
            </a:pPr>
            <a:r>
              <a:rPr lang="en-GB" sz="1800" dirty="0"/>
              <a:t>LION</a:t>
            </a:r>
            <a:r>
              <a:rPr sz="1800" dirty="0"/>
              <a:t> (</a:t>
            </a:r>
            <a:r>
              <a:rPr lang="en-IN" sz="1800" b="1" dirty="0"/>
              <a:t>Evolved Sign Momentum</a:t>
            </a:r>
            <a:r>
              <a:rPr lang="en-IN" sz="1800" dirty="0"/>
              <a:t> , </a:t>
            </a:r>
            <a:r>
              <a:rPr sz="1800" dirty="0"/>
              <a:t>sign-based momentum-style optimizer):</a:t>
            </a:r>
          </a:p>
          <a:p>
            <a:r>
              <a:rPr sz="1800" dirty="0"/>
              <a:t>Uses the sign of the gradient and a momentum-like running state.</a:t>
            </a:r>
          </a:p>
          <a:p>
            <a:r>
              <a:rPr sz="1800" dirty="0"/>
              <a:t>Simple update rule, fewer state variables, strong generalization.</a:t>
            </a:r>
          </a:p>
          <a:p>
            <a:pPr marL="0" indent="0">
              <a:buNone/>
            </a:pPr>
            <a:endParaRPr lang="en-US" sz="1800" dirty="0"/>
          </a:p>
          <a:p>
            <a:pPr marL="0" indent="0">
              <a:buNone/>
            </a:pPr>
            <a:r>
              <a:rPr sz="1800" dirty="0"/>
              <a:t>Why skipping warmup causes errors</a:t>
            </a:r>
            <a:r>
              <a:rPr lang="en-GB" sz="1800" dirty="0"/>
              <a:t> with LION Optimizer</a:t>
            </a:r>
            <a:r>
              <a:rPr sz="1800" dirty="0"/>
              <a:t>:</a:t>
            </a:r>
          </a:p>
          <a:p>
            <a:r>
              <a:rPr sz="1800" dirty="0"/>
              <a:t>Early gradients are noisy → large updates → exploding activations.</a:t>
            </a:r>
          </a:p>
          <a:p>
            <a:r>
              <a:rPr sz="1800" dirty="0"/>
              <a:t>Causes loss spikes, </a:t>
            </a:r>
            <a:r>
              <a:rPr sz="1800" dirty="0" err="1"/>
              <a:t>NaNs</a:t>
            </a:r>
            <a:r>
              <a:rPr sz="1800" dirty="0"/>
              <a:t>, or divergence.</a:t>
            </a:r>
          </a:p>
          <a:p>
            <a:r>
              <a:rPr sz="1800" dirty="0"/>
              <a:t>Warmup stabilizes training by gradually increasing learning rate.</a:t>
            </a:r>
          </a:p>
        </p:txBody>
      </p:sp>
    </p:spTree>
    <p:extLst>
      <p:ext uri="{BB962C8B-B14F-4D97-AF65-F5344CB8AC3E}">
        <p14:creationId xmlns:p14="http://schemas.microsoft.com/office/powerpoint/2010/main" val="265733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Hyperparameters</a:t>
            </a:r>
          </a:p>
        </p:txBody>
      </p:sp>
      <p:sp>
        <p:nvSpPr>
          <p:cNvPr id="3" name="Content Placeholder 2"/>
          <p:cNvSpPr>
            <a:spLocks noGrp="1"/>
          </p:cNvSpPr>
          <p:nvPr>
            <p:ph idx="1"/>
          </p:nvPr>
        </p:nvSpPr>
        <p:spPr/>
        <p:txBody>
          <a:bodyPr/>
          <a:lstStyle/>
          <a:p>
            <a:endParaRPr/>
          </a:p>
        </p:txBody>
      </p:sp>
      <p:graphicFrame>
        <p:nvGraphicFramePr>
          <p:cNvPr id="4" name="Table 3"/>
          <p:cNvGraphicFramePr>
            <a:graphicFrameLocks noGrp="1"/>
          </p:cNvGraphicFramePr>
          <p:nvPr/>
        </p:nvGraphicFramePr>
        <p:xfrm>
          <a:off x="457200" y="1371600"/>
          <a:ext cx="8229600" cy="51206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26571">
                <a:tc>
                  <a:txBody>
                    <a:bodyPr/>
                    <a:lstStyle/>
                    <a:p>
                      <a:r>
                        <a:t>Hyperparameter</a:t>
                      </a:r>
                    </a:p>
                  </a:txBody>
                  <a:tcPr/>
                </a:tc>
                <a:tc>
                  <a:txBody>
                    <a:bodyPr/>
                    <a:lstStyle/>
                    <a:p>
                      <a:r>
                        <a:t>Value</a:t>
                      </a:r>
                    </a:p>
                  </a:txBody>
                  <a:tcPr/>
                </a:tc>
                <a:extLst>
                  <a:ext uri="{0D108BD9-81ED-4DB2-BD59-A6C34878D82A}">
                    <a16:rowId xmlns:a16="http://schemas.microsoft.com/office/drawing/2014/main" val="10000"/>
                  </a:ext>
                </a:extLst>
              </a:tr>
              <a:tr h="326571">
                <a:tc>
                  <a:txBody>
                    <a:bodyPr/>
                    <a:lstStyle/>
                    <a:p>
                      <a:r>
                        <a:t>BATCH_SIZE</a:t>
                      </a:r>
                    </a:p>
                  </a:txBody>
                  <a:tcPr/>
                </a:tc>
                <a:tc>
                  <a:txBody>
                    <a:bodyPr/>
                    <a:lstStyle/>
                    <a:p>
                      <a:r>
                        <a:t>128</a:t>
                      </a:r>
                    </a:p>
                  </a:txBody>
                  <a:tcPr/>
                </a:tc>
                <a:extLst>
                  <a:ext uri="{0D108BD9-81ED-4DB2-BD59-A6C34878D82A}">
                    <a16:rowId xmlns:a16="http://schemas.microsoft.com/office/drawing/2014/main" val="10001"/>
                  </a:ext>
                </a:extLst>
              </a:tr>
              <a:tr h="326571">
                <a:tc>
                  <a:txBody>
                    <a:bodyPr/>
                    <a:lstStyle/>
                    <a:p>
                      <a:r>
                        <a:t>EPOCHS</a:t>
                      </a:r>
                    </a:p>
                  </a:txBody>
                  <a:tcPr/>
                </a:tc>
                <a:tc>
                  <a:txBody>
                    <a:bodyPr/>
                    <a:lstStyle/>
                    <a:p>
                      <a:r>
                        <a:t>10</a:t>
                      </a:r>
                    </a:p>
                  </a:txBody>
                  <a:tcPr/>
                </a:tc>
                <a:extLst>
                  <a:ext uri="{0D108BD9-81ED-4DB2-BD59-A6C34878D82A}">
                    <a16:rowId xmlns:a16="http://schemas.microsoft.com/office/drawing/2014/main" val="10002"/>
                  </a:ext>
                </a:extLst>
              </a:tr>
              <a:tr h="326571">
                <a:tc>
                  <a:txBody>
                    <a:bodyPr/>
                    <a:lstStyle/>
                    <a:p>
                      <a:r>
                        <a:t>LEARNING_RATE</a:t>
                      </a:r>
                    </a:p>
                  </a:txBody>
                  <a:tcPr/>
                </a:tc>
                <a:tc>
                  <a:txBody>
                    <a:bodyPr/>
                    <a:lstStyle/>
                    <a:p>
                      <a:r>
                        <a:t>3e-4</a:t>
                      </a:r>
                    </a:p>
                  </a:txBody>
                  <a:tcPr/>
                </a:tc>
                <a:extLst>
                  <a:ext uri="{0D108BD9-81ED-4DB2-BD59-A6C34878D82A}">
                    <a16:rowId xmlns:a16="http://schemas.microsoft.com/office/drawing/2014/main" val="10003"/>
                  </a:ext>
                </a:extLst>
              </a:tr>
              <a:tr h="326571">
                <a:tc>
                  <a:txBody>
                    <a:bodyPr/>
                    <a:lstStyle/>
                    <a:p>
                      <a:r>
                        <a:t>LION_LEARNING_RATE</a:t>
                      </a:r>
                    </a:p>
                  </a:txBody>
                  <a:tcPr/>
                </a:tc>
                <a:tc>
                  <a:txBody>
                    <a:bodyPr/>
                    <a:lstStyle/>
                    <a:p>
                      <a:r>
                        <a:t>1e-4</a:t>
                      </a:r>
                    </a:p>
                  </a:txBody>
                  <a:tcPr/>
                </a:tc>
                <a:extLst>
                  <a:ext uri="{0D108BD9-81ED-4DB2-BD59-A6C34878D82A}">
                    <a16:rowId xmlns:a16="http://schemas.microsoft.com/office/drawing/2014/main" val="10004"/>
                  </a:ext>
                </a:extLst>
              </a:tr>
              <a:tr h="326571">
                <a:tc>
                  <a:txBody>
                    <a:bodyPr/>
                    <a:lstStyle/>
                    <a:p>
                      <a:r>
                        <a:t>PATCH_SIZE</a:t>
                      </a:r>
                    </a:p>
                  </a:txBody>
                  <a:tcPr/>
                </a:tc>
                <a:tc>
                  <a:txBody>
                    <a:bodyPr/>
                    <a:lstStyle/>
                    <a:p>
                      <a:r>
                        <a:t>4</a:t>
                      </a:r>
                    </a:p>
                  </a:txBody>
                  <a:tcPr/>
                </a:tc>
                <a:extLst>
                  <a:ext uri="{0D108BD9-81ED-4DB2-BD59-A6C34878D82A}">
                    <a16:rowId xmlns:a16="http://schemas.microsoft.com/office/drawing/2014/main" val="10005"/>
                  </a:ext>
                </a:extLst>
              </a:tr>
              <a:tr h="326571">
                <a:tc>
                  <a:txBody>
                    <a:bodyPr/>
                    <a:lstStyle/>
                    <a:p>
                      <a:r>
                        <a:t>NUM_CLASSES</a:t>
                      </a:r>
                    </a:p>
                  </a:txBody>
                  <a:tcPr/>
                </a:tc>
                <a:tc>
                  <a:txBody>
                    <a:bodyPr/>
                    <a:lstStyle/>
                    <a:p>
                      <a:r>
                        <a:t>10 (CIFAR-10)</a:t>
                      </a:r>
                    </a:p>
                  </a:txBody>
                  <a:tcPr/>
                </a:tc>
                <a:extLst>
                  <a:ext uri="{0D108BD9-81ED-4DB2-BD59-A6C34878D82A}">
                    <a16:rowId xmlns:a16="http://schemas.microsoft.com/office/drawing/2014/main" val="10006"/>
                  </a:ext>
                </a:extLst>
              </a:tr>
              <a:tr h="326571">
                <a:tc>
                  <a:txBody>
                    <a:bodyPr/>
                    <a:lstStyle/>
                    <a:p>
                      <a:r>
                        <a:t>IMAGE_SIZE</a:t>
                      </a:r>
                    </a:p>
                  </a:txBody>
                  <a:tcPr/>
                </a:tc>
                <a:tc>
                  <a:txBody>
                    <a:bodyPr/>
                    <a:lstStyle/>
                    <a:p>
                      <a:r>
                        <a:t>32</a:t>
                      </a:r>
                    </a:p>
                  </a:txBody>
                  <a:tcPr/>
                </a:tc>
                <a:extLst>
                  <a:ext uri="{0D108BD9-81ED-4DB2-BD59-A6C34878D82A}">
                    <a16:rowId xmlns:a16="http://schemas.microsoft.com/office/drawing/2014/main" val="10007"/>
                  </a:ext>
                </a:extLst>
              </a:tr>
              <a:tr h="326571">
                <a:tc>
                  <a:txBody>
                    <a:bodyPr/>
                    <a:lstStyle/>
                    <a:p>
                      <a:r>
                        <a:t>CHANNELS</a:t>
                      </a:r>
                    </a:p>
                  </a:txBody>
                  <a:tcPr/>
                </a:tc>
                <a:tc>
                  <a:txBody>
                    <a:bodyPr/>
                    <a:lstStyle/>
                    <a:p>
                      <a:r>
                        <a:t>3</a:t>
                      </a:r>
                    </a:p>
                  </a:txBody>
                  <a:tcPr/>
                </a:tc>
                <a:extLst>
                  <a:ext uri="{0D108BD9-81ED-4DB2-BD59-A6C34878D82A}">
                    <a16:rowId xmlns:a16="http://schemas.microsoft.com/office/drawing/2014/main" val="10008"/>
                  </a:ext>
                </a:extLst>
              </a:tr>
              <a:tr h="326571">
                <a:tc>
                  <a:txBody>
                    <a:bodyPr/>
                    <a:lstStyle/>
                    <a:p>
                      <a:r>
                        <a:t>EMBEDDING_DIM</a:t>
                      </a:r>
                    </a:p>
                  </a:txBody>
                  <a:tcPr/>
                </a:tc>
                <a:tc>
                  <a:txBody>
                    <a:bodyPr/>
                    <a:lstStyle/>
                    <a:p>
                      <a:r>
                        <a:t>384</a:t>
                      </a:r>
                    </a:p>
                  </a:txBody>
                  <a:tcPr/>
                </a:tc>
                <a:extLst>
                  <a:ext uri="{0D108BD9-81ED-4DB2-BD59-A6C34878D82A}">
                    <a16:rowId xmlns:a16="http://schemas.microsoft.com/office/drawing/2014/main" val="10009"/>
                  </a:ext>
                </a:extLst>
              </a:tr>
              <a:tr h="326571">
                <a:tc>
                  <a:txBody>
                    <a:bodyPr/>
                    <a:lstStyle/>
                    <a:p>
                      <a:r>
                        <a:t>NUM_HEADS</a:t>
                      </a:r>
                    </a:p>
                  </a:txBody>
                  <a:tcPr/>
                </a:tc>
                <a:tc>
                  <a:txBody>
                    <a:bodyPr/>
                    <a:lstStyle/>
                    <a:p>
                      <a:r>
                        <a:t>8</a:t>
                      </a:r>
                    </a:p>
                  </a:txBody>
                  <a:tcPr/>
                </a:tc>
                <a:extLst>
                  <a:ext uri="{0D108BD9-81ED-4DB2-BD59-A6C34878D82A}">
                    <a16:rowId xmlns:a16="http://schemas.microsoft.com/office/drawing/2014/main" val="10010"/>
                  </a:ext>
                </a:extLst>
              </a:tr>
              <a:tr h="326571">
                <a:tc>
                  <a:txBody>
                    <a:bodyPr/>
                    <a:lstStyle/>
                    <a:p>
                      <a:r>
                        <a:t>DEPTH</a:t>
                      </a:r>
                    </a:p>
                  </a:txBody>
                  <a:tcPr/>
                </a:tc>
                <a:tc>
                  <a:txBody>
                    <a:bodyPr/>
                    <a:lstStyle/>
                    <a:p>
                      <a:r>
                        <a:t>12 (Transformer Blocks)</a:t>
                      </a:r>
                    </a:p>
                  </a:txBody>
                  <a:tcPr/>
                </a:tc>
                <a:extLst>
                  <a:ext uri="{0D108BD9-81ED-4DB2-BD59-A6C34878D82A}">
                    <a16:rowId xmlns:a16="http://schemas.microsoft.com/office/drawing/2014/main" val="10011"/>
                  </a:ext>
                </a:extLst>
              </a:tr>
              <a:tr h="326571">
                <a:tc>
                  <a:txBody>
                    <a:bodyPr/>
                    <a:lstStyle/>
                    <a:p>
                      <a:r>
                        <a:t>MLP_DIM</a:t>
                      </a:r>
                    </a:p>
                  </a:txBody>
                  <a:tcPr/>
                </a:tc>
                <a:tc>
                  <a:txBody>
                    <a:bodyPr/>
                    <a:lstStyle/>
                    <a:p>
                      <a:r>
                        <a:t>512</a:t>
                      </a:r>
                    </a:p>
                  </a:txBody>
                  <a:tcPr/>
                </a:tc>
                <a:extLst>
                  <a:ext uri="{0D108BD9-81ED-4DB2-BD59-A6C34878D82A}">
                    <a16:rowId xmlns:a16="http://schemas.microsoft.com/office/drawing/2014/main" val="10012"/>
                  </a:ext>
                </a:extLst>
              </a:tr>
              <a:tr h="326577">
                <a:tc>
                  <a:txBody>
                    <a:bodyPr/>
                    <a:lstStyle/>
                    <a:p>
                      <a:r>
                        <a:t>DROPOUT_RATE</a:t>
                      </a:r>
                    </a:p>
                  </a:txBody>
                  <a:tcPr/>
                </a:tc>
                <a:tc>
                  <a:txBody>
                    <a:bodyPr/>
                    <a:lstStyle/>
                    <a:p>
                      <a:r>
                        <a:t>0.1</a:t>
                      </a:r>
                    </a:p>
                  </a:txBody>
                  <a:tcPr/>
                </a:tc>
                <a:extLst>
                  <a:ext uri="{0D108BD9-81ED-4DB2-BD59-A6C34878D82A}">
                    <a16:rowId xmlns:a16="http://schemas.microsoft.com/office/drawing/2014/main" val="1001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0496E-7017-12B0-D979-DD0AA512D352}"/>
              </a:ext>
            </a:extLst>
          </p:cNvPr>
          <p:cNvSpPr>
            <a:spLocks noGrp="1"/>
          </p:cNvSpPr>
          <p:nvPr>
            <p:ph type="title"/>
          </p:nvPr>
        </p:nvSpPr>
        <p:spPr>
          <a:xfrm>
            <a:off x="457200" y="619433"/>
            <a:ext cx="8229600" cy="344794"/>
          </a:xfrm>
        </p:spPr>
        <p:txBody>
          <a:bodyPr>
            <a:normAutofit fontScale="90000"/>
          </a:bodyPr>
          <a:lstStyle/>
          <a:p>
            <a:r>
              <a:rPr lang="en-GB" dirty="0"/>
              <a:t>Result CVT ( As per Paper with GAP &amp; no CLS Token)</a:t>
            </a:r>
            <a:endParaRPr lang="en-IN" dirty="0"/>
          </a:p>
        </p:txBody>
      </p:sp>
      <p:pic>
        <p:nvPicPr>
          <p:cNvPr id="5" name="Content Placeholder 4" descr="A graph of a graph&#10;&#10;AI-generated content may be incorrect.">
            <a:extLst>
              <a:ext uri="{FF2B5EF4-FFF2-40B4-BE49-F238E27FC236}">
                <a16:creationId xmlns:a16="http://schemas.microsoft.com/office/drawing/2014/main" id="{20F72A64-7CCB-0D31-8B5B-F4B238874C78}"/>
              </a:ext>
            </a:extLst>
          </p:cNvPr>
          <p:cNvPicPr>
            <a:picLocks noGrp="1" noChangeAspect="1"/>
          </p:cNvPicPr>
          <p:nvPr>
            <p:ph idx="1"/>
          </p:nvPr>
        </p:nvPicPr>
        <p:blipFill>
          <a:blip r:embed="rId2"/>
          <a:stretch>
            <a:fillRect/>
          </a:stretch>
        </p:blipFill>
        <p:spPr>
          <a:xfrm>
            <a:off x="0" y="1610596"/>
            <a:ext cx="5246396" cy="3934797"/>
          </a:xfrm>
        </p:spPr>
      </p:pic>
      <p:pic>
        <p:nvPicPr>
          <p:cNvPr id="7" name="Picture 6" descr="A diagram of a confusion matrix&#10;&#10;AI-generated content may be incorrect.">
            <a:extLst>
              <a:ext uri="{FF2B5EF4-FFF2-40B4-BE49-F238E27FC236}">
                <a16:creationId xmlns:a16="http://schemas.microsoft.com/office/drawing/2014/main" id="{1672204B-B6A5-85FE-A13C-538C33AAFFA7}"/>
              </a:ext>
            </a:extLst>
          </p:cNvPr>
          <p:cNvPicPr>
            <a:picLocks noChangeAspect="1"/>
          </p:cNvPicPr>
          <p:nvPr/>
        </p:nvPicPr>
        <p:blipFill>
          <a:blip r:embed="rId3"/>
          <a:stretch>
            <a:fillRect/>
          </a:stretch>
        </p:blipFill>
        <p:spPr>
          <a:xfrm>
            <a:off x="4929887" y="1701543"/>
            <a:ext cx="4282939" cy="3752901"/>
          </a:xfrm>
          <a:prstGeom prst="rect">
            <a:avLst/>
          </a:prstGeom>
        </p:spPr>
      </p:pic>
    </p:spTree>
    <p:extLst>
      <p:ext uri="{BB962C8B-B14F-4D97-AF65-F5344CB8AC3E}">
        <p14:creationId xmlns:p14="http://schemas.microsoft.com/office/powerpoint/2010/main" val="2785847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llage of images of animals and cars&#10;&#10;AI-generated content may be incorrect.">
            <a:extLst>
              <a:ext uri="{FF2B5EF4-FFF2-40B4-BE49-F238E27FC236}">
                <a16:creationId xmlns:a16="http://schemas.microsoft.com/office/drawing/2014/main" id="{250B1070-9BFD-4B2F-2EF2-3560F8B7E571}"/>
              </a:ext>
            </a:extLst>
          </p:cNvPr>
          <p:cNvPicPr>
            <a:picLocks noGrp="1" noChangeAspect="1"/>
          </p:cNvPicPr>
          <p:nvPr>
            <p:ph idx="1"/>
          </p:nvPr>
        </p:nvPicPr>
        <p:blipFill>
          <a:blip r:embed="rId2"/>
          <a:stretch>
            <a:fillRect/>
          </a:stretch>
        </p:blipFill>
        <p:spPr>
          <a:xfrm>
            <a:off x="1544430" y="953729"/>
            <a:ext cx="5704128" cy="5752537"/>
          </a:xfrm>
        </p:spPr>
      </p:pic>
    </p:spTree>
    <p:extLst>
      <p:ext uri="{BB962C8B-B14F-4D97-AF65-F5344CB8AC3E}">
        <p14:creationId xmlns:p14="http://schemas.microsoft.com/office/powerpoint/2010/main" val="2828087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436F-38A0-5588-60B8-0DD3E3CB7010}"/>
              </a:ext>
            </a:extLst>
          </p:cNvPr>
          <p:cNvSpPr>
            <a:spLocks noGrp="1"/>
          </p:cNvSpPr>
          <p:nvPr>
            <p:ph type="title"/>
          </p:nvPr>
        </p:nvSpPr>
        <p:spPr>
          <a:xfrm>
            <a:off x="320040" y="90369"/>
            <a:ext cx="8229600" cy="716281"/>
          </a:xfrm>
        </p:spPr>
        <p:txBody>
          <a:bodyPr>
            <a:normAutofit fontScale="90000"/>
          </a:bodyPr>
          <a:lstStyle/>
          <a:p>
            <a:r>
              <a:rPr lang="en-US" dirty="0"/>
              <a:t>Results – </a:t>
            </a:r>
            <a:r>
              <a:rPr lang="en-US" dirty="0" err="1"/>
              <a:t>AdamW</a:t>
            </a:r>
            <a:r>
              <a:rPr lang="en-US" dirty="0"/>
              <a:t> optimizer</a:t>
            </a:r>
            <a:endParaRPr lang="en-IN" dirty="0"/>
          </a:p>
        </p:txBody>
      </p:sp>
      <p:pic>
        <p:nvPicPr>
          <p:cNvPr id="3074" name="Picture 2">
            <a:extLst>
              <a:ext uri="{FF2B5EF4-FFF2-40B4-BE49-F238E27FC236}">
                <a16:creationId xmlns:a16="http://schemas.microsoft.com/office/drawing/2014/main" id="{866FA7FB-33D9-E351-9633-77CEB31829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0040" y="740664"/>
            <a:ext cx="3584448" cy="268833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79BCEEE-BC96-B7C2-145D-405D04DFB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490" y="725779"/>
            <a:ext cx="3472244" cy="269143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CE59ED31-DD74-53E0-A341-22D2EAA677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942" y="3374457"/>
            <a:ext cx="3584448" cy="28764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9473C8B-00D8-002F-C54F-12D14A2A7F98}"/>
              </a:ext>
            </a:extLst>
          </p:cNvPr>
          <p:cNvSpPr txBox="1"/>
          <p:nvPr/>
        </p:nvSpPr>
        <p:spPr>
          <a:xfrm>
            <a:off x="1809136" y="3399498"/>
            <a:ext cx="606256" cy="369332"/>
          </a:xfrm>
          <a:prstGeom prst="rect">
            <a:avLst/>
          </a:prstGeom>
          <a:noFill/>
        </p:spPr>
        <p:txBody>
          <a:bodyPr wrap="none" rtlCol="0">
            <a:spAutoFit/>
          </a:bodyPr>
          <a:lstStyle/>
          <a:p>
            <a:r>
              <a:rPr lang="en-US" dirty="0"/>
              <a:t>CNN</a:t>
            </a:r>
            <a:endParaRPr lang="en-IN" dirty="0"/>
          </a:p>
        </p:txBody>
      </p:sp>
      <p:sp>
        <p:nvSpPr>
          <p:cNvPr id="7" name="TextBox 6">
            <a:extLst>
              <a:ext uri="{FF2B5EF4-FFF2-40B4-BE49-F238E27FC236}">
                <a16:creationId xmlns:a16="http://schemas.microsoft.com/office/drawing/2014/main" id="{458C486A-7254-EEA8-B2B7-D524D2AB2F38}"/>
              </a:ext>
            </a:extLst>
          </p:cNvPr>
          <p:cNvSpPr txBox="1"/>
          <p:nvPr/>
        </p:nvSpPr>
        <p:spPr>
          <a:xfrm>
            <a:off x="6179378" y="3273059"/>
            <a:ext cx="1801368" cy="369332"/>
          </a:xfrm>
          <a:prstGeom prst="rect">
            <a:avLst/>
          </a:prstGeom>
          <a:noFill/>
        </p:spPr>
        <p:txBody>
          <a:bodyPr wrap="square" rtlCol="0">
            <a:spAutoFit/>
          </a:bodyPr>
          <a:lstStyle/>
          <a:p>
            <a:r>
              <a:rPr lang="en-US" dirty="0" err="1"/>
              <a:t>ViT</a:t>
            </a:r>
            <a:endParaRPr lang="en-IN" dirty="0"/>
          </a:p>
        </p:txBody>
      </p:sp>
      <p:sp>
        <p:nvSpPr>
          <p:cNvPr id="8" name="TextBox 7">
            <a:extLst>
              <a:ext uri="{FF2B5EF4-FFF2-40B4-BE49-F238E27FC236}">
                <a16:creationId xmlns:a16="http://schemas.microsoft.com/office/drawing/2014/main" id="{B4B03DB0-29FD-66BF-8114-B7050B056213}"/>
              </a:ext>
            </a:extLst>
          </p:cNvPr>
          <p:cNvSpPr txBox="1"/>
          <p:nvPr/>
        </p:nvSpPr>
        <p:spPr>
          <a:xfrm>
            <a:off x="3534156" y="6250244"/>
            <a:ext cx="1801368" cy="369332"/>
          </a:xfrm>
          <a:prstGeom prst="rect">
            <a:avLst/>
          </a:prstGeom>
          <a:noFill/>
        </p:spPr>
        <p:txBody>
          <a:bodyPr wrap="square" rtlCol="0">
            <a:spAutoFit/>
          </a:bodyPr>
          <a:lstStyle/>
          <a:p>
            <a:r>
              <a:rPr lang="en-US" dirty="0" err="1"/>
              <a:t>CvT</a:t>
            </a:r>
            <a:r>
              <a:rPr lang="en-US" dirty="0"/>
              <a:t> Simplified</a:t>
            </a:r>
            <a:endParaRPr lang="en-IN" dirty="0"/>
          </a:p>
        </p:txBody>
      </p:sp>
    </p:spTree>
    <p:extLst>
      <p:ext uri="{BB962C8B-B14F-4D97-AF65-F5344CB8AC3E}">
        <p14:creationId xmlns:p14="http://schemas.microsoft.com/office/powerpoint/2010/main" val="48293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EF2E-0379-ACE2-178E-3741F29205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63EBC-C22B-4D18-79DD-338A60489F15}"/>
              </a:ext>
            </a:extLst>
          </p:cNvPr>
          <p:cNvSpPr>
            <a:spLocks noGrp="1"/>
          </p:cNvSpPr>
          <p:nvPr>
            <p:ph type="title"/>
          </p:nvPr>
        </p:nvSpPr>
        <p:spPr>
          <a:xfrm>
            <a:off x="535858" y="396636"/>
            <a:ext cx="8229600" cy="369332"/>
          </a:xfrm>
        </p:spPr>
        <p:txBody>
          <a:bodyPr>
            <a:normAutofit fontScale="90000"/>
          </a:bodyPr>
          <a:lstStyle/>
          <a:p>
            <a:r>
              <a:rPr lang="en-US" dirty="0"/>
              <a:t>Results – </a:t>
            </a:r>
            <a:r>
              <a:rPr lang="en-US" dirty="0" err="1"/>
              <a:t>AdamW</a:t>
            </a:r>
            <a:r>
              <a:rPr lang="en-US" dirty="0"/>
              <a:t> optimizer</a:t>
            </a:r>
            <a:endParaRPr lang="en-IN" dirty="0"/>
          </a:p>
        </p:txBody>
      </p:sp>
      <p:pic>
        <p:nvPicPr>
          <p:cNvPr id="4098" name="Picture 2">
            <a:extLst>
              <a:ext uri="{FF2B5EF4-FFF2-40B4-BE49-F238E27FC236}">
                <a16:creationId xmlns:a16="http://schemas.microsoft.com/office/drawing/2014/main" id="{79163DCD-DBDE-9790-9040-7EBFA7CC2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74" y="1612953"/>
            <a:ext cx="2979084" cy="26735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56EA159-DA3E-A0D7-F907-A414F9CCAB50}"/>
              </a:ext>
            </a:extLst>
          </p:cNvPr>
          <p:cNvSpPr txBox="1"/>
          <p:nvPr/>
        </p:nvSpPr>
        <p:spPr>
          <a:xfrm>
            <a:off x="345979" y="4481805"/>
            <a:ext cx="4572000" cy="954107"/>
          </a:xfrm>
          <a:prstGeom prst="rect">
            <a:avLst/>
          </a:prstGeom>
          <a:noFill/>
        </p:spPr>
        <p:txBody>
          <a:bodyPr wrap="square">
            <a:spAutoFit/>
          </a:bodyPr>
          <a:lstStyle/>
          <a:p>
            <a:pPr algn="l" latinLnBrk="1">
              <a:buNone/>
            </a:pPr>
            <a:r>
              <a:rPr lang="en-US" sz="1400" b="0" i="0" dirty="0">
                <a:effectLst/>
              </a:rPr>
              <a:t>Test Accuracy: 88%</a:t>
            </a:r>
          </a:p>
          <a:p>
            <a:pPr algn="l" latinLnBrk="1">
              <a:buNone/>
            </a:pPr>
            <a:r>
              <a:rPr lang="en-US" sz="1400" b="0" i="0" dirty="0">
                <a:effectLst/>
              </a:rPr>
              <a:t>Precision: 0.88</a:t>
            </a:r>
          </a:p>
          <a:p>
            <a:pPr algn="l" latinLnBrk="1">
              <a:buNone/>
            </a:pPr>
            <a:r>
              <a:rPr lang="en-US" sz="1400" b="0" i="0" dirty="0">
                <a:effectLst/>
              </a:rPr>
              <a:t>Recall:    0.88</a:t>
            </a:r>
          </a:p>
          <a:p>
            <a:pPr algn="l" latinLnBrk="1">
              <a:buNone/>
            </a:pPr>
            <a:r>
              <a:rPr lang="en-US" sz="1400" b="0" i="0" dirty="0">
                <a:effectLst/>
              </a:rPr>
              <a:t>F1 Score:  0.88</a:t>
            </a:r>
          </a:p>
        </p:txBody>
      </p:sp>
      <p:pic>
        <p:nvPicPr>
          <p:cNvPr id="4100" name="Picture 4">
            <a:extLst>
              <a:ext uri="{FF2B5EF4-FFF2-40B4-BE49-F238E27FC236}">
                <a16:creationId xmlns:a16="http://schemas.microsoft.com/office/drawing/2014/main" id="{D152D39D-AD40-BBCD-905E-A5E9FC638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0415" y="1706994"/>
            <a:ext cx="2874295" cy="257949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1C80B2C-74A1-ED54-72E6-70B53912BDE0}"/>
              </a:ext>
            </a:extLst>
          </p:cNvPr>
          <p:cNvSpPr txBox="1"/>
          <p:nvPr/>
        </p:nvSpPr>
        <p:spPr>
          <a:xfrm>
            <a:off x="6734556" y="4311878"/>
            <a:ext cx="4572000" cy="954107"/>
          </a:xfrm>
          <a:prstGeom prst="rect">
            <a:avLst/>
          </a:prstGeom>
          <a:noFill/>
        </p:spPr>
        <p:txBody>
          <a:bodyPr wrap="square">
            <a:spAutoFit/>
          </a:bodyPr>
          <a:lstStyle/>
          <a:p>
            <a:pPr algn="l" latinLnBrk="1">
              <a:buNone/>
            </a:pPr>
            <a:r>
              <a:rPr lang="en-US" sz="1400" b="0" i="0" dirty="0">
                <a:effectLst/>
              </a:rPr>
              <a:t>Test Accuracy: 88%</a:t>
            </a:r>
          </a:p>
          <a:p>
            <a:pPr algn="l" latinLnBrk="1">
              <a:buNone/>
            </a:pPr>
            <a:r>
              <a:rPr lang="en-US" sz="1400" b="0" i="0" dirty="0">
                <a:effectLst/>
              </a:rPr>
              <a:t>Precision: 0.88</a:t>
            </a:r>
          </a:p>
          <a:p>
            <a:pPr algn="l" latinLnBrk="1">
              <a:buNone/>
            </a:pPr>
            <a:r>
              <a:rPr lang="en-US" sz="1400" b="0" i="0" dirty="0">
                <a:effectLst/>
              </a:rPr>
              <a:t>Recall:    0.88</a:t>
            </a:r>
          </a:p>
          <a:p>
            <a:pPr algn="l" latinLnBrk="1">
              <a:buNone/>
            </a:pPr>
            <a:r>
              <a:rPr lang="en-US" sz="1400" b="0" i="0" dirty="0">
                <a:effectLst/>
              </a:rPr>
              <a:t>F1 Score:  0.88</a:t>
            </a:r>
          </a:p>
        </p:txBody>
      </p:sp>
      <p:pic>
        <p:nvPicPr>
          <p:cNvPr id="4102" name="Picture 6">
            <a:extLst>
              <a:ext uri="{FF2B5EF4-FFF2-40B4-BE49-F238E27FC236}">
                <a16:creationId xmlns:a16="http://schemas.microsoft.com/office/drawing/2014/main" id="{A027DE76-D3B3-E1CC-9780-2CBE87B195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6120" y="3192057"/>
            <a:ext cx="2874295" cy="25794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42E18C-4DFE-52F3-925E-C17FCAE0DDB8}"/>
              </a:ext>
            </a:extLst>
          </p:cNvPr>
          <p:cNvSpPr txBox="1"/>
          <p:nvPr/>
        </p:nvSpPr>
        <p:spPr>
          <a:xfrm>
            <a:off x="3715543" y="5777329"/>
            <a:ext cx="4572000" cy="954107"/>
          </a:xfrm>
          <a:prstGeom prst="rect">
            <a:avLst/>
          </a:prstGeom>
          <a:noFill/>
        </p:spPr>
        <p:txBody>
          <a:bodyPr wrap="square">
            <a:spAutoFit/>
          </a:bodyPr>
          <a:lstStyle/>
          <a:p>
            <a:pPr algn="l" latinLnBrk="1">
              <a:buNone/>
            </a:pPr>
            <a:r>
              <a:rPr lang="en-US" sz="1400" b="0" i="0" dirty="0">
                <a:effectLst/>
              </a:rPr>
              <a:t>Test Accuracy: 8</a:t>
            </a:r>
            <a:r>
              <a:rPr lang="en-US" sz="1400" dirty="0"/>
              <a:t>9</a:t>
            </a:r>
            <a:r>
              <a:rPr lang="en-US" sz="1400" b="0" i="0" dirty="0">
                <a:effectLst/>
              </a:rPr>
              <a:t>%</a:t>
            </a:r>
          </a:p>
          <a:p>
            <a:pPr algn="l" latinLnBrk="1">
              <a:buNone/>
            </a:pPr>
            <a:r>
              <a:rPr lang="en-US" sz="1400" b="0" i="0" dirty="0">
                <a:effectLst/>
              </a:rPr>
              <a:t>Precision: 0.89</a:t>
            </a:r>
          </a:p>
          <a:p>
            <a:pPr algn="l" latinLnBrk="1">
              <a:buNone/>
            </a:pPr>
            <a:r>
              <a:rPr lang="en-US" sz="1400" b="0" i="0" dirty="0">
                <a:effectLst/>
              </a:rPr>
              <a:t>Recall:    0.89</a:t>
            </a:r>
          </a:p>
          <a:p>
            <a:pPr algn="l" latinLnBrk="1">
              <a:buNone/>
            </a:pPr>
            <a:r>
              <a:rPr lang="en-US" sz="1400" b="0" i="0" dirty="0">
                <a:effectLst/>
              </a:rPr>
              <a:t>F1 Score:  0.89</a:t>
            </a:r>
          </a:p>
        </p:txBody>
      </p:sp>
      <p:sp>
        <p:nvSpPr>
          <p:cNvPr id="8" name="TextBox 7">
            <a:extLst>
              <a:ext uri="{FF2B5EF4-FFF2-40B4-BE49-F238E27FC236}">
                <a16:creationId xmlns:a16="http://schemas.microsoft.com/office/drawing/2014/main" id="{3A16B264-71C3-BCB9-B2BC-88068B612D31}"/>
              </a:ext>
            </a:extLst>
          </p:cNvPr>
          <p:cNvSpPr txBox="1"/>
          <p:nvPr/>
        </p:nvSpPr>
        <p:spPr>
          <a:xfrm>
            <a:off x="1251352" y="1277312"/>
            <a:ext cx="606256" cy="369332"/>
          </a:xfrm>
          <a:prstGeom prst="rect">
            <a:avLst/>
          </a:prstGeom>
          <a:noFill/>
        </p:spPr>
        <p:txBody>
          <a:bodyPr wrap="none" rtlCol="0">
            <a:spAutoFit/>
          </a:bodyPr>
          <a:lstStyle/>
          <a:p>
            <a:r>
              <a:rPr lang="en-US" dirty="0"/>
              <a:t>CNN</a:t>
            </a:r>
            <a:endParaRPr lang="en-IN" dirty="0"/>
          </a:p>
        </p:txBody>
      </p:sp>
      <p:sp>
        <p:nvSpPr>
          <p:cNvPr id="9" name="TextBox 8">
            <a:extLst>
              <a:ext uri="{FF2B5EF4-FFF2-40B4-BE49-F238E27FC236}">
                <a16:creationId xmlns:a16="http://schemas.microsoft.com/office/drawing/2014/main" id="{84615956-C2EE-6589-5A83-993C28A87F89}"/>
              </a:ext>
            </a:extLst>
          </p:cNvPr>
          <p:cNvSpPr txBox="1"/>
          <p:nvPr/>
        </p:nvSpPr>
        <p:spPr>
          <a:xfrm>
            <a:off x="7179258" y="1312273"/>
            <a:ext cx="1801368" cy="369332"/>
          </a:xfrm>
          <a:prstGeom prst="rect">
            <a:avLst/>
          </a:prstGeom>
          <a:noFill/>
        </p:spPr>
        <p:txBody>
          <a:bodyPr wrap="square" rtlCol="0">
            <a:spAutoFit/>
          </a:bodyPr>
          <a:lstStyle/>
          <a:p>
            <a:r>
              <a:rPr lang="en-US" dirty="0" err="1"/>
              <a:t>ViT</a:t>
            </a:r>
            <a:endParaRPr lang="en-IN" dirty="0"/>
          </a:p>
        </p:txBody>
      </p:sp>
      <p:sp>
        <p:nvSpPr>
          <p:cNvPr id="10" name="TextBox 9">
            <a:extLst>
              <a:ext uri="{FF2B5EF4-FFF2-40B4-BE49-F238E27FC236}">
                <a16:creationId xmlns:a16="http://schemas.microsoft.com/office/drawing/2014/main" id="{964BCDC5-1117-ADE2-57B2-59C1C9355F50}"/>
              </a:ext>
            </a:extLst>
          </p:cNvPr>
          <p:cNvSpPr txBox="1"/>
          <p:nvPr/>
        </p:nvSpPr>
        <p:spPr>
          <a:xfrm>
            <a:off x="4017295" y="2739633"/>
            <a:ext cx="1801368" cy="369332"/>
          </a:xfrm>
          <a:prstGeom prst="rect">
            <a:avLst/>
          </a:prstGeom>
          <a:noFill/>
        </p:spPr>
        <p:txBody>
          <a:bodyPr wrap="square" rtlCol="0">
            <a:spAutoFit/>
          </a:bodyPr>
          <a:lstStyle/>
          <a:p>
            <a:r>
              <a:rPr lang="en-US" dirty="0" err="1"/>
              <a:t>CvT</a:t>
            </a:r>
            <a:r>
              <a:rPr lang="en-US" dirty="0"/>
              <a:t> Simplified</a:t>
            </a:r>
            <a:endParaRPr lang="en-IN" dirty="0"/>
          </a:p>
        </p:txBody>
      </p:sp>
    </p:spTree>
    <p:extLst>
      <p:ext uri="{BB962C8B-B14F-4D97-AF65-F5344CB8AC3E}">
        <p14:creationId xmlns:p14="http://schemas.microsoft.com/office/powerpoint/2010/main" val="19298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91111-12BC-905F-C461-9830F35869E7}"/>
              </a:ext>
            </a:extLst>
          </p:cNvPr>
          <p:cNvSpPr>
            <a:spLocks noGrp="1"/>
          </p:cNvSpPr>
          <p:nvPr>
            <p:ph type="title"/>
          </p:nvPr>
        </p:nvSpPr>
        <p:spPr/>
        <p:txBody>
          <a:bodyPr/>
          <a:lstStyle/>
          <a:p>
            <a:r>
              <a:rPr lang="en-US" dirty="0"/>
              <a:t>Results – </a:t>
            </a:r>
            <a:r>
              <a:rPr lang="en-IN" dirty="0"/>
              <a:t>Lion</a:t>
            </a:r>
            <a:r>
              <a:rPr lang="en-US" dirty="0"/>
              <a:t> optimizer</a:t>
            </a:r>
            <a:endParaRPr lang="en-IN" dirty="0"/>
          </a:p>
        </p:txBody>
      </p:sp>
      <p:pic>
        <p:nvPicPr>
          <p:cNvPr id="5122" name="Picture 2">
            <a:extLst>
              <a:ext uri="{FF2B5EF4-FFF2-40B4-BE49-F238E27FC236}">
                <a16:creationId xmlns:a16="http://schemas.microsoft.com/office/drawing/2014/main" id="{196404CF-2F5C-8A1D-687F-8A9B7B58F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6247" y="1609535"/>
            <a:ext cx="4128291" cy="30996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694356B6-08B1-F87F-8913-B7B6A5C1F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111" y="1545527"/>
            <a:ext cx="3880889" cy="30081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379C9C2-AE1D-9BF1-4BDB-6A2880014577}"/>
              </a:ext>
            </a:extLst>
          </p:cNvPr>
          <p:cNvSpPr txBox="1"/>
          <p:nvPr/>
        </p:nvSpPr>
        <p:spPr>
          <a:xfrm>
            <a:off x="2586386" y="4681601"/>
            <a:ext cx="1801368" cy="369332"/>
          </a:xfrm>
          <a:prstGeom prst="rect">
            <a:avLst/>
          </a:prstGeom>
          <a:noFill/>
        </p:spPr>
        <p:txBody>
          <a:bodyPr wrap="square" rtlCol="0">
            <a:spAutoFit/>
          </a:bodyPr>
          <a:lstStyle/>
          <a:p>
            <a:r>
              <a:rPr lang="en-US" dirty="0" err="1"/>
              <a:t>ViT</a:t>
            </a:r>
            <a:endParaRPr lang="en-IN" dirty="0"/>
          </a:p>
        </p:txBody>
      </p:sp>
      <p:sp>
        <p:nvSpPr>
          <p:cNvPr id="5" name="TextBox 4">
            <a:extLst>
              <a:ext uri="{FF2B5EF4-FFF2-40B4-BE49-F238E27FC236}">
                <a16:creationId xmlns:a16="http://schemas.microsoft.com/office/drawing/2014/main" id="{237CBD7C-E1B9-8551-9B54-81B1ADE95E30}"/>
              </a:ext>
            </a:extLst>
          </p:cNvPr>
          <p:cNvSpPr txBox="1"/>
          <p:nvPr/>
        </p:nvSpPr>
        <p:spPr>
          <a:xfrm>
            <a:off x="6776039" y="4716391"/>
            <a:ext cx="1801368" cy="369332"/>
          </a:xfrm>
          <a:prstGeom prst="rect">
            <a:avLst/>
          </a:prstGeom>
          <a:noFill/>
        </p:spPr>
        <p:txBody>
          <a:bodyPr wrap="square" rtlCol="0">
            <a:spAutoFit/>
          </a:bodyPr>
          <a:lstStyle/>
          <a:p>
            <a:r>
              <a:rPr lang="en-US" dirty="0" err="1"/>
              <a:t>CvT</a:t>
            </a:r>
            <a:endParaRPr lang="en-IN" dirty="0"/>
          </a:p>
        </p:txBody>
      </p:sp>
    </p:spTree>
    <p:extLst>
      <p:ext uri="{BB962C8B-B14F-4D97-AF65-F5344CB8AC3E}">
        <p14:creationId xmlns:p14="http://schemas.microsoft.com/office/powerpoint/2010/main" val="1663368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A2DD0-A6EC-F404-D365-B47119AF3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5364C-4106-A595-A402-449CAFC83D8C}"/>
              </a:ext>
            </a:extLst>
          </p:cNvPr>
          <p:cNvSpPr>
            <a:spLocks noGrp="1"/>
          </p:cNvSpPr>
          <p:nvPr>
            <p:ph type="title"/>
          </p:nvPr>
        </p:nvSpPr>
        <p:spPr/>
        <p:txBody>
          <a:bodyPr/>
          <a:lstStyle/>
          <a:p>
            <a:r>
              <a:rPr lang="en-US" dirty="0"/>
              <a:t>Results – </a:t>
            </a:r>
            <a:r>
              <a:rPr lang="en-IN" dirty="0"/>
              <a:t>Lion</a:t>
            </a:r>
            <a:r>
              <a:rPr lang="en-US" dirty="0"/>
              <a:t> optimizer</a:t>
            </a:r>
            <a:endParaRPr lang="en-IN" dirty="0"/>
          </a:p>
        </p:txBody>
      </p:sp>
      <p:pic>
        <p:nvPicPr>
          <p:cNvPr id="6146" name="Picture 2">
            <a:extLst>
              <a:ext uri="{FF2B5EF4-FFF2-40B4-BE49-F238E27FC236}">
                <a16:creationId xmlns:a16="http://schemas.microsoft.com/office/drawing/2014/main" id="{90D4E271-D6A4-17C7-C043-C44F478CA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1408" y="1729812"/>
            <a:ext cx="3699400" cy="331997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3D3475F5-F01F-0680-E62F-8A7CFD060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664" y="1769012"/>
            <a:ext cx="3699400" cy="33199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61290FB-39AE-075A-DB3D-AB5F4F3BA4A5}"/>
              </a:ext>
            </a:extLst>
          </p:cNvPr>
          <p:cNvSpPr txBox="1"/>
          <p:nvPr/>
        </p:nvSpPr>
        <p:spPr>
          <a:xfrm>
            <a:off x="6001543" y="5259334"/>
            <a:ext cx="4572000" cy="954107"/>
          </a:xfrm>
          <a:prstGeom prst="rect">
            <a:avLst/>
          </a:prstGeom>
          <a:noFill/>
        </p:spPr>
        <p:txBody>
          <a:bodyPr wrap="square">
            <a:spAutoFit/>
          </a:bodyPr>
          <a:lstStyle/>
          <a:p>
            <a:pPr algn="l" latinLnBrk="1">
              <a:buNone/>
            </a:pPr>
            <a:r>
              <a:rPr lang="en-US" sz="1400" b="0" i="0" dirty="0">
                <a:effectLst/>
              </a:rPr>
              <a:t>Test Accuracy: 8</a:t>
            </a:r>
            <a:r>
              <a:rPr lang="en-US" sz="1400" dirty="0"/>
              <a:t>9</a:t>
            </a:r>
            <a:r>
              <a:rPr lang="en-US" sz="1400" b="0" i="0" dirty="0">
                <a:effectLst/>
              </a:rPr>
              <a:t>%</a:t>
            </a:r>
          </a:p>
          <a:p>
            <a:pPr algn="l" latinLnBrk="1">
              <a:buNone/>
            </a:pPr>
            <a:r>
              <a:rPr lang="en-US" sz="1400" b="0" i="0" dirty="0">
                <a:effectLst/>
              </a:rPr>
              <a:t>Precision: 0.89</a:t>
            </a:r>
          </a:p>
          <a:p>
            <a:pPr algn="l" latinLnBrk="1">
              <a:buNone/>
            </a:pPr>
            <a:r>
              <a:rPr lang="en-US" sz="1400" b="0" i="0" dirty="0">
                <a:effectLst/>
              </a:rPr>
              <a:t>Recall:    0.89</a:t>
            </a:r>
          </a:p>
          <a:p>
            <a:pPr algn="l" latinLnBrk="1">
              <a:buNone/>
            </a:pPr>
            <a:r>
              <a:rPr lang="en-US" sz="1400" b="0" i="0" dirty="0">
                <a:effectLst/>
              </a:rPr>
              <a:t>F1 Score:  0.89</a:t>
            </a:r>
          </a:p>
        </p:txBody>
      </p:sp>
      <p:sp>
        <p:nvSpPr>
          <p:cNvPr id="4" name="TextBox 3">
            <a:extLst>
              <a:ext uri="{FF2B5EF4-FFF2-40B4-BE49-F238E27FC236}">
                <a16:creationId xmlns:a16="http://schemas.microsoft.com/office/drawing/2014/main" id="{1F1759CC-6698-0CE3-25AD-DBBE599D0DF8}"/>
              </a:ext>
            </a:extLst>
          </p:cNvPr>
          <p:cNvSpPr txBox="1"/>
          <p:nvPr/>
        </p:nvSpPr>
        <p:spPr>
          <a:xfrm>
            <a:off x="1810511" y="5429621"/>
            <a:ext cx="4572000" cy="954107"/>
          </a:xfrm>
          <a:prstGeom prst="rect">
            <a:avLst/>
          </a:prstGeom>
          <a:noFill/>
        </p:spPr>
        <p:txBody>
          <a:bodyPr wrap="square">
            <a:spAutoFit/>
          </a:bodyPr>
          <a:lstStyle/>
          <a:p>
            <a:pPr algn="l" latinLnBrk="1">
              <a:buNone/>
            </a:pPr>
            <a:r>
              <a:rPr lang="en-US" sz="1400" b="0" i="0" dirty="0">
                <a:effectLst/>
              </a:rPr>
              <a:t>Test Accuracy: 88%</a:t>
            </a:r>
          </a:p>
          <a:p>
            <a:pPr algn="l" latinLnBrk="1">
              <a:buNone/>
            </a:pPr>
            <a:r>
              <a:rPr lang="en-US" sz="1400" b="0" i="0" dirty="0">
                <a:effectLst/>
              </a:rPr>
              <a:t>Precision: 0.88</a:t>
            </a:r>
          </a:p>
          <a:p>
            <a:pPr algn="l" latinLnBrk="1">
              <a:buNone/>
            </a:pPr>
            <a:r>
              <a:rPr lang="en-US" sz="1400" b="0" i="0" dirty="0">
                <a:effectLst/>
              </a:rPr>
              <a:t>Recall:    0.88</a:t>
            </a:r>
          </a:p>
          <a:p>
            <a:pPr algn="l" latinLnBrk="1">
              <a:buNone/>
            </a:pPr>
            <a:r>
              <a:rPr lang="en-US" sz="1400" b="0" i="0" dirty="0">
                <a:effectLst/>
              </a:rPr>
              <a:t>F1 Score:  0.88</a:t>
            </a:r>
          </a:p>
        </p:txBody>
      </p:sp>
      <p:sp>
        <p:nvSpPr>
          <p:cNvPr id="5" name="TextBox 4">
            <a:extLst>
              <a:ext uri="{FF2B5EF4-FFF2-40B4-BE49-F238E27FC236}">
                <a16:creationId xmlns:a16="http://schemas.microsoft.com/office/drawing/2014/main" id="{E7A0B757-7F13-19C6-532D-56A721390B56}"/>
              </a:ext>
            </a:extLst>
          </p:cNvPr>
          <p:cNvSpPr txBox="1"/>
          <p:nvPr/>
        </p:nvSpPr>
        <p:spPr>
          <a:xfrm>
            <a:off x="2202338" y="1314537"/>
            <a:ext cx="1801368" cy="369332"/>
          </a:xfrm>
          <a:prstGeom prst="rect">
            <a:avLst/>
          </a:prstGeom>
          <a:noFill/>
        </p:spPr>
        <p:txBody>
          <a:bodyPr wrap="square" rtlCol="0">
            <a:spAutoFit/>
          </a:bodyPr>
          <a:lstStyle/>
          <a:p>
            <a:r>
              <a:rPr lang="en-US" dirty="0" err="1"/>
              <a:t>ViT</a:t>
            </a:r>
            <a:endParaRPr lang="en-IN" dirty="0"/>
          </a:p>
        </p:txBody>
      </p:sp>
      <p:sp>
        <p:nvSpPr>
          <p:cNvPr id="6" name="TextBox 5">
            <a:extLst>
              <a:ext uri="{FF2B5EF4-FFF2-40B4-BE49-F238E27FC236}">
                <a16:creationId xmlns:a16="http://schemas.microsoft.com/office/drawing/2014/main" id="{78CF3C88-E190-F517-0EBF-DF60CA70919E}"/>
              </a:ext>
            </a:extLst>
          </p:cNvPr>
          <p:cNvSpPr txBox="1"/>
          <p:nvPr/>
        </p:nvSpPr>
        <p:spPr>
          <a:xfrm>
            <a:off x="6486175" y="1257854"/>
            <a:ext cx="1801368" cy="369332"/>
          </a:xfrm>
          <a:prstGeom prst="rect">
            <a:avLst/>
          </a:prstGeom>
          <a:noFill/>
        </p:spPr>
        <p:txBody>
          <a:bodyPr wrap="square" rtlCol="0">
            <a:spAutoFit/>
          </a:bodyPr>
          <a:lstStyle/>
          <a:p>
            <a:r>
              <a:rPr lang="en-US" dirty="0" err="1"/>
              <a:t>CvT</a:t>
            </a:r>
            <a:endParaRPr lang="en-IN" dirty="0"/>
          </a:p>
        </p:txBody>
      </p:sp>
    </p:spTree>
    <p:extLst>
      <p:ext uri="{BB962C8B-B14F-4D97-AF65-F5344CB8AC3E}">
        <p14:creationId xmlns:p14="http://schemas.microsoft.com/office/powerpoint/2010/main" val="3892290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CCF2-9ADF-1EE6-262C-426EF4DC75F2}"/>
              </a:ext>
            </a:extLst>
          </p:cNvPr>
          <p:cNvSpPr>
            <a:spLocks noGrp="1"/>
          </p:cNvSpPr>
          <p:nvPr>
            <p:ph type="title"/>
          </p:nvPr>
        </p:nvSpPr>
        <p:spPr/>
        <p:txBody>
          <a:bodyPr/>
          <a:lstStyle/>
          <a:p>
            <a:r>
              <a:rPr lang="en-GB" dirty="0"/>
              <a:t>Observations about CVT</a:t>
            </a:r>
            <a:endParaRPr lang="en-IN" dirty="0"/>
          </a:p>
        </p:txBody>
      </p:sp>
      <p:sp>
        <p:nvSpPr>
          <p:cNvPr id="3" name="Content Placeholder 2">
            <a:extLst>
              <a:ext uri="{FF2B5EF4-FFF2-40B4-BE49-F238E27FC236}">
                <a16:creationId xmlns:a16="http://schemas.microsoft.com/office/drawing/2014/main" id="{563CAB39-1286-6175-0A2A-D09EE664B99B}"/>
              </a:ext>
            </a:extLst>
          </p:cNvPr>
          <p:cNvSpPr>
            <a:spLocks noGrp="1"/>
          </p:cNvSpPr>
          <p:nvPr>
            <p:ph idx="1"/>
          </p:nvPr>
        </p:nvSpPr>
        <p:spPr/>
        <p:txBody>
          <a:bodyPr>
            <a:normAutofit/>
          </a:bodyPr>
          <a:lstStyle/>
          <a:p>
            <a:r>
              <a:rPr lang="en-GB" sz="1800" dirty="0"/>
              <a:t>Setting Stride for K and V to 2 in the CNN 2D makes training faster but at a cost of 1% accuracy ( 88% vs 89% for K =V =1 , CLS Token used) </a:t>
            </a:r>
          </a:p>
          <a:p>
            <a:r>
              <a:rPr lang="en-GB" sz="1800" dirty="0"/>
              <a:t>LION optimizer without Warmup doesn’t work and tends to have exploding activations as it uses sign of the gradient and not its magnitude hence can lead to aggressive steps that can overshoot . </a:t>
            </a:r>
          </a:p>
          <a:p>
            <a:r>
              <a:rPr lang="en-GB" sz="1800" dirty="0" err="1"/>
              <a:t>AdamW</a:t>
            </a:r>
            <a:r>
              <a:rPr lang="en-GB" sz="1800" dirty="0"/>
              <a:t> works well with same level of accuracy as LION , but LION converges much faster ( &lt;40 epochs vs 90+ for </a:t>
            </a:r>
            <a:r>
              <a:rPr lang="en-GB" sz="1800" dirty="0" err="1"/>
              <a:t>AdamW</a:t>
            </a:r>
            <a:r>
              <a:rPr lang="en-GB" sz="1800" dirty="0"/>
              <a:t>) . </a:t>
            </a:r>
          </a:p>
          <a:p>
            <a:r>
              <a:rPr lang="en-GB" sz="1800" dirty="0"/>
              <a:t>Warmup does not have significant effect on </a:t>
            </a:r>
            <a:r>
              <a:rPr lang="en-GB" sz="1800" dirty="0" err="1"/>
              <a:t>AdamW</a:t>
            </a:r>
            <a:r>
              <a:rPr lang="en-GB" sz="1800" dirty="0"/>
              <a:t>. </a:t>
            </a:r>
          </a:p>
          <a:p>
            <a:r>
              <a:rPr lang="en-GB" sz="1800" dirty="0"/>
              <a:t>Maximum possible accuracy for Cifar10 dataset observed to be 91% with GAP(Global Average Pooling) instead of Class Token</a:t>
            </a:r>
          </a:p>
          <a:p>
            <a:r>
              <a:rPr lang="en-GB" sz="1800" dirty="0"/>
              <a:t>GAP forces a consensus from all spatial features, which aligns better with the convolutional inductive bias for CVT.</a:t>
            </a:r>
          </a:p>
          <a:p>
            <a:r>
              <a:rPr lang="en-GB" sz="1800" dirty="0"/>
              <a:t>Positional Embedding did not have an impact on the accuracy with Class Token . </a:t>
            </a:r>
            <a:endParaRPr lang="en-IN" sz="1800" dirty="0"/>
          </a:p>
        </p:txBody>
      </p:sp>
    </p:spTree>
    <p:extLst>
      <p:ext uri="{BB962C8B-B14F-4D97-AF65-F5344CB8AC3E}">
        <p14:creationId xmlns:p14="http://schemas.microsoft.com/office/powerpoint/2010/main" val="1698819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normAutofit/>
          </a:bodyPr>
          <a:lstStyle/>
          <a:p>
            <a:r>
              <a:rPr sz="1800" dirty="0"/>
              <a:t>CNN: Strong local feature extraction; </a:t>
            </a:r>
            <a:r>
              <a:rPr sz="1800" dirty="0" err="1"/>
              <a:t>ViT</a:t>
            </a:r>
            <a:r>
              <a:rPr sz="1800" dirty="0"/>
              <a:t>: strong global attention; </a:t>
            </a:r>
            <a:r>
              <a:rPr sz="1800" dirty="0" err="1"/>
              <a:t>CvT</a:t>
            </a:r>
            <a:r>
              <a:rPr sz="1800" dirty="0"/>
              <a:t>: combines both for best balance.</a:t>
            </a:r>
          </a:p>
          <a:p>
            <a:r>
              <a:rPr sz="1800" dirty="0"/>
              <a:t>CIFAR-10: 60k images, 10 balanced classes; transformations improve robustness.</a:t>
            </a:r>
          </a:p>
          <a:p>
            <a:r>
              <a:rPr sz="1800" dirty="0"/>
              <a:t>Normalization ensures stable gradients and faster training.</a:t>
            </a:r>
          </a:p>
          <a:p>
            <a:r>
              <a:rPr sz="1800" dirty="0" err="1"/>
              <a:t>AdamW</a:t>
            </a:r>
            <a:r>
              <a:rPr sz="1800" dirty="0"/>
              <a:t>: stable adaptive optimizer; Lion: lightweight, sign-based; warmup prevents divergence.</a:t>
            </a:r>
          </a:p>
          <a:p>
            <a:r>
              <a:rPr sz="1800" dirty="0"/>
              <a:t>Hyperparameters tuned for CIFAR-10 stability and accuracy.</a:t>
            </a:r>
          </a:p>
          <a:p>
            <a:r>
              <a:rPr sz="1800" dirty="0"/>
              <a:t>Results: </a:t>
            </a:r>
            <a:r>
              <a:rPr sz="1800" dirty="0" err="1"/>
              <a:t>CvT</a:t>
            </a:r>
            <a:r>
              <a:rPr sz="1800" dirty="0"/>
              <a:t> performs best</a:t>
            </a:r>
            <a:r>
              <a:rPr lang="en-US" sz="1800" dirty="0"/>
              <a:t>.</a:t>
            </a:r>
          </a:p>
          <a:p>
            <a:r>
              <a:rPr sz="1800" dirty="0"/>
              <a:t>Key takeaway: </a:t>
            </a:r>
            <a:r>
              <a:rPr sz="1800" dirty="0" err="1"/>
              <a:t>CvT</a:t>
            </a:r>
            <a:r>
              <a:rPr sz="1800" dirty="0"/>
              <a:t> offers best overall performance when combined with proper augmentation, normalization, and warmup.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325</TotalTime>
  <Words>974</Words>
  <Application>Microsoft Office PowerPoint</Application>
  <PresentationFormat>On-screen Show (4:3)</PresentationFormat>
  <Paragraphs>166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Convolutional Vision Transformer (Hybrid CNN Transformer Network)</vt:lpstr>
      <vt:lpstr>Difference between CNN, ViT and CvT</vt:lpstr>
      <vt:lpstr>Convolutional Vision Transformer</vt:lpstr>
      <vt:lpstr>CIFAR-10 dataset</vt:lpstr>
      <vt:lpstr>Experiments with CVT</vt:lpstr>
      <vt:lpstr>Transformations</vt:lpstr>
      <vt:lpstr>Optimizer</vt:lpstr>
      <vt:lpstr>Model Hyperparameters</vt:lpstr>
      <vt:lpstr>Result CVT ( As per Paper with GAP &amp; no CLS Token)</vt:lpstr>
      <vt:lpstr>PowerPoint Presentation</vt:lpstr>
      <vt:lpstr>Results – AdamW optimizer</vt:lpstr>
      <vt:lpstr>Results – AdamW optimizer</vt:lpstr>
      <vt:lpstr>Results – Lion optimizer</vt:lpstr>
      <vt:lpstr>Results – Lion optimizer</vt:lpstr>
      <vt:lpstr>Observations about CVT</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Nishit M.V</cp:lastModifiedBy>
  <cp:revision>14</cp:revision>
  <dcterms:created xsi:type="dcterms:W3CDTF">2013-01-27T09:14:16Z</dcterms:created>
  <dcterms:modified xsi:type="dcterms:W3CDTF">2025-12-13T17:11:03Z</dcterms:modified>
  <cp:category/>
</cp:coreProperties>
</file>